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7" name="Shape 177"/>
          <p:cNvSpPr/>
          <p:nvPr>
            <p:ph type="sldImg"/>
          </p:nvPr>
        </p:nvSpPr>
        <p:spPr>
          <a:xfrm>
            <a:off x="1143000" y="685800"/>
            <a:ext cx="4572000" cy="3429000"/>
          </a:xfrm>
          <a:prstGeom prst="rect">
            <a:avLst/>
          </a:prstGeom>
        </p:spPr>
        <p:txBody>
          <a:bodyPr/>
          <a:lstStyle/>
          <a:p>
            <a:pPr/>
          </a:p>
        </p:txBody>
      </p:sp>
      <p:sp>
        <p:nvSpPr>
          <p:cNvPr id="178" name="Shape 17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defTabSz="914400">
              <a:lnSpc>
                <a:spcPct val="100000"/>
              </a:lnSpc>
              <a:defRPr sz="2000">
                <a:latin typeface="Aptos"/>
                <a:ea typeface="Aptos"/>
                <a:cs typeface="Aptos"/>
                <a:sym typeface="Aptos"/>
              </a:defRPr>
            </a:pPr>
            <a:r>
              <a:t>Tabular methods —&gt; discrete states, discrete actions</a:t>
            </a:r>
          </a:p>
          <a:p>
            <a:pPr defTabSz="914400">
              <a:lnSpc>
                <a:spcPct val="100000"/>
              </a:lnSpc>
              <a:defRPr sz="2000">
                <a:latin typeface="Aptos"/>
                <a:ea typeface="Aptos"/>
                <a:cs typeface="Aptos"/>
                <a:sym typeface="Aptos"/>
              </a:defRPr>
            </a:pPr>
            <a:r>
              <a:t>Actions are both discrete AND unordered</a:t>
            </a:r>
          </a:p>
          <a:p>
            <a:pPr defTabSz="914400">
              <a:lnSpc>
                <a:spcPct val="100000"/>
              </a:lnSpc>
              <a:defRPr sz="2000">
                <a:latin typeface="Aptos"/>
                <a:ea typeface="Aptos"/>
                <a:cs typeface="Aptos"/>
                <a:sym typeface="Aptos"/>
              </a:defRPr>
            </a:pPr>
            <a:r>
              <a:t>(tabular = table! Tabulate?)</a:t>
            </a:r>
          </a:p>
          <a:p>
            <a:pPr defTabSz="914400">
              <a:lnSpc>
                <a:spcPct val="100000"/>
              </a:lnSpc>
              <a:defRPr sz="2000">
                <a:latin typeface="Aptos"/>
                <a:ea typeface="Aptos"/>
                <a:cs typeface="Aptos"/>
                <a:sym typeface="Aptos"/>
              </a:defRPr>
            </a:pPr>
            <a:r>
              <a:t>The policy was just argmax over most valuable action (in a given state), which requires iterating over all states</a:t>
            </a:r>
          </a:p>
          <a:p>
            <a:pPr defTabSz="914400">
              <a:lnSpc>
                <a:spcPct val="100000"/>
              </a:lnSpc>
              <a:defRPr sz="2000">
                <a:latin typeface="Aptos"/>
                <a:ea typeface="Aptos"/>
                <a:cs typeface="Aptos"/>
                <a:sym typeface="Aptos"/>
              </a:defRPr>
            </a:pPr>
            <a:r>
              <a:t>Also our updates were to individual discrete states/actions, which meant that if there are similar actions, we cannot benefit from updating nearby ones (less sample efficient)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a:r>
              <a:t>Continuous state space —&gt; no discrete states so we can’t use action-value lookup table, instead need a function over continuous state space</a:t>
            </a:r>
          </a:p>
          <a:p>
            <a:pPr/>
            <a:r>
              <a:t>Discrete action space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Shape 370"/>
          <p:cNvSpPr/>
          <p:nvPr>
            <p:ph type="sldImg"/>
          </p:nvPr>
        </p:nvSpPr>
        <p:spPr>
          <a:prstGeom prst="rect">
            <a:avLst/>
          </a:prstGeom>
        </p:spPr>
        <p:txBody>
          <a:bodyPr/>
          <a:lstStyle/>
          <a:p>
            <a:pPr/>
          </a:p>
        </p:txBody>
      </p:sp>
      <p:sp>
        <p:nvSpPr>
          <p:cNvPr id="371" name="Shape 371"/>
          <p:cNvSpPr/>
          <p:nvPr>
            <p:ph type="body" sz="quarter" idx="1"/>
          </p:nvPr>
        </p:nvSpPr>
        <p:spPr>
          <a:prstGeom prst="rect">
            <a:avLst/>
          </a:prstGeom>
        </p:spPr>
        <p:txBody>
          <a:bodyPr/>
          <a:lstStyle/>
          <a:p>
            <a:pPr defTabSz="914400">
              <a:lnSpc>
                <a:spcPct val="100000"/>
              </a:lnSpc>
              <a:defRPr sz="2000">
                <a:latin typeface="Aptos"/>
                <a:ea typeface="Aptos"/>
                <a:cs typeface="Aptos"/>
                <a:sym typeface="Aptos"/>
              </a:defRPr>
            </a:pPr>
            <a:r>
              <a:t>4D state landscape, mapping that space to a given discrete action, activations would be the value of that action at that point in state space. And then your policy would act on that value outcome, e.g. argmax or random</a:t>
            </a:r>
          </a:p>
          <a:p>
            <a:pPr defTabSz="914400">
              <a:lnSpc>
                <a:spcPct val="100000"/>
              </a:lnSpc>
              <a:defRPr sz="2000">
                <a:latin typeface="Aptos"/>
                <a:ea typeface="Aptos"/>
                <a:cs typeface="Aptos"/>
                <a:sym typeface="Aptos"/>
              </a:defRPr>
            </a:pPr>
          </a:p>
          <a:p>
            <a:pPr defTabSz="914400">
              <a:lnSpc>
                <a:spcPct val="100000"/>
              </a:lnSpc>
              <a:defRPr sz="2000">
                <a:latin typeface="Aptos"/>
                <a:ea typeface="Aptos"/>
                <a:cs typeface="Aptos"/>
                <a:sym typeface="Aptos"/>
              </a:defRPr>
            </a:pPr>
            <a:r>
              <a:t>Goal is to learn the map of action-state to value, aka model of the environment, with a function approximator</a:t>
            </a:r>
          </a:p>
          <a:p>
            <a:pPr defTabSz="914400">
              <a:lnSpc>
                <a:spcPct val="100000"/>
              </a:lnSpc>
              <a:defRPr sz="2000">
                <a:latin typeface="Aptos"/>
                <a:ea typeface="Aptos"/>
                <a:cs typeface="Aptos"/>
                <a:sym typeface="Aptos"/>
              </a:defRPr>
            </a:pPr>
          </a:p>
          <a:p>
            <a:pPr defTabSz="914400">
              <a:lnSpc>
                <a:spcPct val="100000"/>
              </a:lnSpc>
              <a:defRPr sz="2000">
                <a:latin typeface="Aptos"/>
                <a:ea typeface="Aptos"/>
                <a:cs typeface="Aptos"/>
                <a:sym typeface="Aptos"/>
              </a:defRPr>
            </a:pPr>
            <a:r>
              <a:t>Computing this argmax over action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4" name="Shape 514"/>
          <p:cNvSpPr/>
          <p:nvPr>
            <p:ph type="sldImg"/>
          </p:nvPr>
        </p:nvSpPr>
        <p:spPr>
          <a:prstGeom prst="rect">
            <a:avLst/>
          </a:prstGeom>
        </p:spPr>
        <p:txBody>
          <a:bodyPr/>
          <a:lstStyle/>
          <a:p>
            <a:pPr/>
          </a:p>
        </p:txBody>
      </p:sp>
      <p:sp>
        <p:nvSpPr>
          <p:cNvPr id="515" name="Shape 515"/>
          <p:cNvSpPr/>
          <p:nvPr>
            <p:ph type="body" sz="quarter" idx="1"/>
          </p:nvPr>
        </p:nvSpPr>
        <p:spPr>
          <a:prstGeom prst="rect">
            <a:avLst/>
          </a:prstGeom>
        </p:spPr>
        <p:txBody>
          <a:bodyPr/>
          <a:lstStyle/>
          <a:p>
            <a:pPr defTabSz="914400">
              <a:lnSpc>
                <a:spcPct val="100000"/>
              </a:lnSpc>
              <a:defRPr sz="2000">
                <a:latin typeface="Aptos"/>
                <a:ea typeface="Aptos"/>
                <a:cs typeface="Aptos"/>
                <a:sym typeface="Aptos"/>
              </a:defRPr>
            </a:pPr>
            <a:r>
              <a:t>Loss function = updating the weights to approximate this Q value, in a way that maximizes total reward</a:t>
            </a:r>
          </a:p>
          <a:p>
            <a:pPr defTabSz="914400">
              <a:lnSpc>
                <a:spcPct val="100000"/>
              </a:lnSpc>
              <a:defRPr sz="2000">
                <a:latin typeface="Aptos"/>
                <a:ea typeface="Aptos"/>
                <a:cs typeface="Aptos"/>
                <a:sym typeface="Aptos"/>
              </a:defRPr>
            </a:pPr>
          </a:p>
          <a:p>
            <a:pPr defTabSz="914400">
              <a:lnSpc>
                <a:spcPct val="100000"/>
              </a:lnSpc>
              <a:defRPr sz="2000">
                <a:latin typeface="Aptos"/>
                <a:ea typeface="Aptos"/>
                <a:cs typeface="Aptos"/>
                <a:sym typeface="Aptos"/>
              </a:defRPr>
            </a:pPr>
            <a:r>
              <a:t>Note that in computing Q learning, we are learning a deterministic state-action policy, since at every timepoint, the policy is to take the action with the highest value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5" name="Shape 665"/>
          <p:cNvSpPr/>
          <p:nvPr>
            <p:ph type="sldImg"/>
          </p:nvPr>
        </p:nvSpPr>
        <p:spPr>
          <a:prstGeom prst="rect">
            <a:avLst/>
          </a:prstGeom>
        </p:spPr>
        <p:txBody>
          <a:bodyPr/>
          <a:lstStyle/>
          <a:p>
            <a:pPr/>
          </a:p>
        </p:txBody>
      </p:sp>
      <p:sp>
        <p:nvSpPr>
          <p:cNvPr id="666" name="Shape 666"/>
          <p:cNvSpPr/>
          <p:nvPr>
            <p:ph type="body" sz="quarter" idx="1"/>
          </p:nvPr>
        </p:nvSpPr>
        <p:spPr>
          <a:prstGeom prst="rect">
            <a:avLst/>
          </a:prstGeom>
        </p:spPr>
        <p:txBody>
          <a:bodyPr/>
          <a:lstStyle/>
          <a:p>
            <a:pPr defTabSz="914400">
              <a:lnSpc>
                <a:spcPct val="100000"/>
              </a:lnSpc>
              <a:defRPr sz="2000">
                <a:latin typeface="Aptos"/>
                <a:ea typeface="Aptos"/>
                <a:cs typeface="Aptos"/>
                <a:sym typeface="Aptos"/>
              </a:defRPr>
            </a:pPr>
            <a:r>
              <a:t>Policy gradient, still using a deep network, but change how we interpret the activations of output neurons, and our loss function, so how we update weights</a:t>
            </a:r>
          </a:p>
          <a:p>
            <a:pPr defTabSz="914400">
              <a:lnSpc>
                <a:spcPct val="100000"/>
              </a:lnSpc>
              <a:defRPr sz="2000">
                <a:latin typeface="Aptos"/>
                <a:ea typeface="Aptos"/>
                <a:cs typeface="Aptos"/>
                <a:sym typeface="Aptos"/>
              </a:defRPr>
            </a:pPr>
          </a:p>
          <a:p>
            <a:pPr defTabSz="914400">
              <a:lnSpc>
                <a:spcPct val="100000"/>
              </a:lnSpc>
              <a:defRPr sz="2000">
                <a:latin typeface="Aptos"/>
                <a:ea typeface="Aptos"/>
                <a:cs typeface="Aptos"/>
                <a:sym typeface="Aptos"/>
              </a:defRPr>
            </a:pPr>
            <a:r>
              <a:t>Instead of updating weights to accurately represent the value of action-state combo (Q-value), you are updating weights to directly maximise total reward under that policy (or something else)</a:t>
            </a:r>
          </a:p>
          <a:p>
            <a:pPr defTabSz="914400">
              <a:lnSpc>
                <a:spcPct val="100000"/>
              </a:lnSpc>
              <a:defRPr sz="2000">
                <a:latin typeface="Aptos"/>
                <a:ea typeface="Aptos"/>
                <a:cs typeface="Aptos"/>
                <a:sym typeface="Aptos"/>
              </a:defRPr>
            </a:pPr>
            <a:r>
              <a:t>Q-value update is iterative, policy gradient is a gradient method</a:t>
            </a:r>
          </a:p>
          <a:p>
            <a:pPr defTabSz="914400">
              <a:lnSpc>
                <a:spcPct val="100000"/>
              </a:lnSpc>
              <a:defRPr sz="2000">
                <a:latin typeface="Aptos"/>
                <a:ea typeface="Aptos"/>
                <a:cs typeface="Aptos"/>
                <a:sym typeface="Aptos"/>
              </a:defRPr>
            </a:pPr>
          </a:p>
          <a:p>
            <a:pPr marL="254000" indent="-254000" defTabSz="914400">
              <a:lnSpc>
                <a:spcPct val="100000"/>
              </a:lnSpc>
              <a:buSzPct val="123000"/>
              <a:buChar char="-"/>
              <a:defRPr sz="2000">
                <a:latin typeface="Aptos"/>
                <a:ea typeface="Aptos"/>
                <a:cs typeface="Aptos"/>
                <a:sym typeface="Aptos"/>
              </a:defRPr>
            </a:pPr>
            <a:r>
              <a:t>Stochastic —&gt; probability over actions, way you choose an action at each timestep is sampling from that probability distribution</a:t>
            </a:r>
          </a:p>
          <a:p>
            <a:pPr marL="254000" indent="-254000" defTabSz="914400">
              <a:lnSpc>
                <a:spcPct val="100000"/>
              </a:lnSpc>
              <a:buSzPct val="123000"/>
              <a:buChar char="-"/>
              <a:defRPr sz="2000">
                <a:latin typeface="Aptos"/>
                <a:ea typeface="Aptos"/>
                <a:cs typeface="Aptos"/>
                <a:sym typeface="Aptos"/>
              </a:defRPr>
            </a:pPr>
            <a:r>
              <a:t>Discrete or continuous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1" name="Shape 681"/>
          <p:cNvSpPr/>
          <p:nvPr>
            <p:ph type="sldImg"/>
          </p:nvPr>
        </p:nvSpPr>
        <p:spPr>
          <a:prstGeom prst="rect">
            <a:avLst/>
          </a:prstGeom>
        </p:spPr>
        <p:txBody>
          <a:bodyPr/>
          <a:lstStyle/>
          <a:p>
            <a:pPr/>
          </a:p>
        </p:txBody>
      </p:sp>
      <p:sp>
        <p:nvSpPr>
          <p:cNvPr id="682" name="Shape 682"/>
          <p:cNvSpPr/>
          <p:nvPr>
            <p:ph type="body" sz="quarter" idx="1"/>
          </p:nvPr>
        </p:nvSpPr>
        <p:spPr>
          <a:prstGeom prst="rect">
            <a:avLst/>
          </a:prstGeom>
        </p:spPr>
        <p:txBody>
          <a:bodyPr/>
          <a:lstStyle/>
          <a:p>
            <a:pPr/>
            <a:r>
              <a:t>—&gt; Gradient with respect to parameters of policy pi (so in theory this could be small number, but usually it’s a neural network)</a:t>
            </a:r>
          </a:p>
          <a:p>
            <a:pPr/>
          </a:p>
          <a:p>
            <a:pPr/>
            <a:r>
              <a:t>Stochastic policy, continuous state and action space</a:t>
            </a:r>
          </a:p>
          <a:p>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7" name="Shape 707"/>
          <p:cNvSpPr/>
          <p:nvPr>
            <p:ph type="sldImg"/>
          </p:nvPr>
        </p:nvSpPr>
        <p:spPr>
          <a:prstGeom prst="rect">
            <a:avLst/>
          </a:prstGeom>
        </p:spPr>
        <p:txBody>
          <a:bodyPr/>
          <a:lstStyle/>
          <a:p>
            <a:pPr/>
          </a:p>
        </p:txBody>
      </p:sp>
      <p:sp>
        <p:nvSpPr>
          <p:cNvPr id="708" name="Shape 708"/>
          <p:cNvSpPr/>
          <p:nvPr>
            <p:ph type="body" sz="quarter" idx="1"/>
          </p:nvPr>
        </p:nvSpPr>
        <p:spPr>
          <a:prstGeom prst="rect">
            <a:avLst/>
          </a:prstGeom>
        </p:spPr>
        <p:txBody>
          <a:bodyPr/>
          <a:lstStyle/>
          <a:p>
            <a:pPr/>
            <a:r>
              <a:t>Commentary on why control is difficult</a:t>
            </a:r>
          </a:p>
          <a:p>
            <a:pPr marL="279400" indent="-279400">
              <a:buSzPct val="123000"/>
              <a:buChar char="-"/>
            </a:pPr>
            <a:r>
              <a:t>movement command is not exactly what the body does (because of interaction with environment, also execution noise)</a:t>
            </a:r>
          </a:p>
          <a:p>
            <a:pPr marL="279400" indent="-279400">
              <a:buSzPct val="123000"/>
              <a:buChar char="-"/>
            </a:pPr>
            <a:r>
              <a:t>Do the thing and see what you did (continuous update) —&gt; sensory-motor delay ~100ms, which matters </a:t>
            </a:r>
          </a:p>
          <a:p>
            <a:pPr marL="279400" indent="-279400">
              <a:buSzPct val="123000"/>
              <a:buChar char="-"/>
            </a:pPr>
            <a:r>
              <a:t>Forward models of how motor commands will be enacted, perform updates based on sensory predictions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4" name="Shape 714"/>
          <p:cNvSpPr/>
          <p:nvPr>
            <p:ph type="sldImg"/>
          </p:nvPr>
        </p:nvSpPr>
        <p:spPr>
          <a:prstGeom prst="rect">
            <a:avLst/>
          </a:prstGeom>
        </p:spPr>
        <p:txBody>
          <a:bodyPr/>
          <a:lstStyle/>
          <a:p>
            <a:pPr/>
          </a:p>
        </p:txBody>
      </p:sp>
      <p:sp>
        <p:nvSpPr>
          <p:cNvPr id="715" name="Shape 715"/>
          <p:cNvSpPr/>
          <p:nvPr>
            <p:ph type="body" sz="quarter" idx="1"/>
          </p:nvPr>
        </p:nvSpPr>
        <p:spPr>
          <a:prstGeom prst="rect">
            <a:avLst/>
          </a:prstGeom>
        </p:spPr>
        <p:txBody>
          <a:bodyPr/>
          <a:lstStyle/>
          <a:p>
            <a:pPr/>
            <a:r>
              <a:t>Question mark because their explanation seemed to imply that value-based RL only maps actions to value rather than allowing for state-dependent action-value mapping</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oumo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169" name="Title Text"/>
          <p:cNvSpPr txBox="1"/>
          <p:nvPr>
            <p:ph type="title"/>
          </p:nvPr>
        </p:nvSpPr>
        <p:spPr>
          <a:xfrm>
            <a:off x="1663700" y="3419476"/>
            <a:ext cx="21031200" cy="5705474"/>
          </a:xfrm>
          <a:prstGeom prst="rect">
            <a:avLst/>
          </a:prstGeom>
        </p:spPr>
        <p:txBody>
          <a:bodyPr lIns="91439" tIns="91439" rIns="91439" bIns="91439" anchor="b"/>
          <a:lstStyle>
            <a:lvl1pPr defTabSz="1828800">
              <a:lnSpc>
                <a:spcPct val="90000"/>
              </a:lnSpc>
              <a:defRPr b="0" spc="0" sz="12000">
                <a:latin typeface="Aptos Display"/>
                <a:ea typeface="Aptos Display"/>
                <a:cs typeface="Aptos Display"/>
                <a:sym typeface="Aptos Display"/>
              </a:defRPr>
            </a:lvl1pPr>
          </a:lstStyle>
          <a:p>
            <a:pPr/>
            <a:r>
              <a:t>Title Text</a:t>
            </a:r>
          </a:p>
        </p:txBody>
      </p:sp>
      <p:sp>
        <p:nvSpPr>
          <p:cNvPr id="170" name="Body Level One…"/>
          <p:cNvSpPr txBox="1"/>
          <p:nvPr>
            <p:ph type="body" sz="quarter" idx="1"/>
          </p:nvPr>
        </p:nvSpPr>
        <p:spPr>
          <a:xfrm>
            <a:off x="1663700" y="9178925"/>
            <a:ext cx="21031200" cy="3000375"/>
          </a:xfrm>
          <a:prstGeom prst="rect">
            <a:avLst/>
          </a:prstGeom>
        </p:spPr>
        <p:txBody>
          <a:bodyPr lIns="91439" tIns="91439" rIns="91439" bIns="91439"/>
          <a:lstStyle>
            <a:lvl1pPr marL="0" indent="0" defTabSz="1828800">
              <a:spcBef>
                <a:spcPts val="2000"/>
              </a:spcBef>
              <a:buSzTx/>
              <a:buNone/>
              <a:defRPr>
                <a:solidFill>
                  <a:srgbClr val="757575"/>
                </a:solidFill>
                <a:latin typeface="Aptos"/>
                <a:ea typeface="Aptos"/>
                <a:cs typeface="Aptos"/>
                <a:sym typeface="Aptos"/>
              </a:defRPr>
            </a:lvl1pPr>
            <a:lvl2pPr marL="0" indent="457200" defTabSz="1828800">
              <a:spcBef>
                <a:spcPts val="2000"/>
              </a:spcBef>
              <a:buSzTx/>
              <a:buNone/>
              <a:defRPr>
                <a:solidFill>
                  <a:srgbClr val="757575"/>
                </a:solidFill>
                <a:latin typeface="Aptos"/>
                <a:ea typeface="Aptos"/>
                <a:cs typeface="Aptos"/>
                <a:sym typeface="Aptos"/>
              </a:defRPr>
            </a:lvl2pPr>
            <a:lvl3pPr marL="0" indent="914400" defTabSz="1828800">
              <a:spcBef>
                <a:spcPts val="2000"/>
              </a:spcBef>
              <a:buSzTx/>
              <a:buNone/>
              <a:defRPr>
                <a:solidFill>
                  <a:srgbClr val="757575"/>
                </a:solidFill>
                <a:latin typeface="Aptos"/>
                <a:ea typeface="Aptos"/>
                <a:cs typeface="Aptos"/>
                <a:sym typeface="Aptos"/>
              </a:defRPr>
            </a:lvl3pPr>
            <a:lvl4pPr marL="0" indent="1371600" defTabSz="1828800">
              <a:spcBef>
                <a:spcPts val="2000"/>
              </a:spcBef>
              <a:buSzTx/>
              <a:buNone/>
              <a:defRPr>
                <a:solidFill>
                  <a:srgbClr val="757575"/>
                </a:solidFill>
                <a:latin typeface="Aptos"/>
                <a:ea typeface="Aptos"/>
                <a:cs typeface="Aptos"/>
                <a:sym typeface="Aptos"/>
              </a:defRPr>
            </a:lvl4pPr>
            <a:lvl5pPr marL="0" indent="1828800" defTabSz="1828800">
              <a:spcBef>
                <a:spcPts val="2000"/>
              </a:spcBef>
              <a:buSzTx/>
              <a:buNone/>
              <a:defRPr>
                <a:solidFill>
                  <a:srgbClr val="757575"/>
                </a:solidFill>
                <a:latin typeface="Aptos"/>
                <a:ea typeface="Aptos"/>
                <a:cs typeface="Aptos"/>
                <a:sym typeface="Aptos"/>
              </a:defRPr>
            </a:lvl5pPr>
          </a:lstStyle>
          <a:p>
            <a:pPr/>
            <a:r>
              <a:t>Body Level One</a:t>
            </a:r>
          </a:p>
          <a:p>
            <a:pPr lvl="1"/>
            <a:r>
              <a:t>Body Level Two</a:t>
            </a:r>
          </a:p>
          <a:p>
            <a:pPr lvl="2"/>
            <a:r>
              <a:t>Body Level Three</a:t>
            </a:r>
          </a:p>
          <a:p>
            <a:pPr lvl="3"/>
            <a:r>
              <a:t>Body Level Four</a:t>
            </a:r>
          </a:p>
          <a:p>
            <a:pPr lvl="4"/>
            <a:r>
              <a:t>Body Level Five</a:t>
            </a:r>
          </a:p>
        </p:txBody>
      </p:sp>
      <p:sp>
        <p:nvSpPr>
          <p:cNvPr id="171" name="Slide Number"/>
          <p:cNvSpPr txBox="1"/>
          <p:nvPr>
            <p:ph type="sldNum" sz="quarter" idx="2"/>
          </p:nvPr>
        </p:nvSpPr>
        <p:spPr>
          <a:xfrm>
            <a:off x="22172989" y="12802235"/>
            <a:ext cx="534611" cy="551181"/>
          </a:xfrm>
          <a:prstGeom prst="rect">
            <a:avLst/>
          </a:prstGeom>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gif"/></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gif"/></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8.png"/><Relationship Id="rId3" Type="http://schemas.openxmlformats.org/officeDocument/2006/relationships/hyperlink" Target="https://lilianweng.github.io/posts/2018-04-08-policy-gradient/"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openai.com/index/learning-dexterity/" TargetMode="External"/><Relationship Id="rId4" Type="http://schemas.openxmlformats.org/officeDocument/2006/relationships/hyperlink" Target="https://gymnasium.farama.org/environments/mujoco/"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doi.org/10.1016/j.cobeha.2021.04.020" TargetMode="External"/><Relationship Id="rId4" Type="http://schemas.openxmlformats.org/officeDocument/2006/relationships/hyperlink" Target="https://doi.org/10.1101/2025.09.29.679295" TargetMode="External"/><Relationship Id="rId5" Type="http://schemas.openxmlformats.org/officeDocument/2006/relationships/hyperlink" Target="https://papers.nips.cc/paper_files/paper/2020/hash/234b941e88b755b7a72a1c1dd5022f30-Abstract.html" TargetMode="Externa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Liz de Laittre - neuro study group - 3.30.26"/>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Liz de Laittre - neuro study group - 3.30.26</a:t>
            </a:r>
          </a:p>
        </p:txBody>
      </p:sp>
      <p:sp>
        <p:nvSpPr>
          <p:cNvPr id="181" name="Policy Gradients"/>
          <p:cNvSpPr txBox="1"/>
          <p:nvPr>
            <p:ph type="ctrTitle"/>
          </p:nvPr>
        </p:nvSpPr>
        <p:spPr>
          <a:prstGeom prst="rect">
            <a:avLst/>
          </a:prstGeom>
        </p:spPr>
        <p:txBody>
          <a:bodyPr/>
          <a:lstStyle/>
          <a:p>
            <a:pPr/>
            <a:r>
              <a:t>Policy Gradients</a:t>
            </a:r>
          </a:p>
        </p:txBody>
      </p:sp>
      <p:sp>
        <p:nvSpPr>
          <p:cNvPr id="182" name="A subset of policy optimization methods"/>
          <p:cNvSpPr txBox="1"/>
          <p:nvPr>
            <p:ph type="subTitle" sz="quarter" idx="1"/>
          </p:nvPr>
        </p:nvSpPr>
        <p:spPr>
          <a:prstGeom prst="rect">
            <a:avLst/>
          </a:prstGeom>
        </p:spPr>
        <p:txBody>
          <a:bodyPr/>
          <a:lstStyle/>
          <a:p>
            <a:pPr/>
            <a:r>
              <a:t>A subset of policy optimization methods</a:t>
            </a:r>
          </a:p>
        </p:txBody>
      </p:sp>
      <p:sp>
        <p:nvSpPr>
          <p:cNvPr id="183"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5" name="Picture 2" descr="Picture 2"/>
          <p:cNvPicPr>
            <a:picLocks noChangeAspect="1"/>
          </p:cNvPicPr>
          <p:nvPr/>
        </p:nvPicPr>
        <p:blipFill>
          <a:blip r:embed="rId3">
            <a:extLst/>
          </a:blip>
          <a:srcRect l="43661" t="0" r="0" b="0"/>
          <a:stretch>
            <a:fillRect/>
          </a:stretch>
        </p:blipFill>
        <p:spPr>
          <a:xfrm>
            <a:off x="1986861" y="3151866"/>
            <a:ext cx="6949129" cy="6938119"/>
          </a:xfrm>
          <a:prstGeom prst="rect">
            <a:avLst/>
          </a:prstGeom>
          <a:ln w="12700">
            <a:miter lim="400000"/>
          </a:ln>
        </p:spPr>
      </p:pic>
      <p:graphicFrame>
        <p:nvGraphicFramePr>
          <p:cNvPr id="186" name="Table 3"/>
          <p:cNvGraphicFramePr/>
          <p:nvPr/>
        </p:nvGraphicFramePr>
        <p:xfrm>
          <a:off x="10410464" y="4188915"/>
          <a:ext cx="8346199" cy="490809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664159"/>
                <a:gridCol w="1664159"/>
                <a:gridCol w="1664159"/>
                <a:gridCol w="1664159"/>
                <a:gridCol w="1664159"/>
              </a:tblGrid>
              <a:tr h="1020767">
                <a:tc>
                  <a:txBody>
                    <a:bodyPr/>
                    <a:lstStyle/>
                    <a:p>
                      <a:pPr algn="l" defTabSz="1828800">
                        <a:defRPr b="0"/>
                      </a:pPr>
                      <a:r>
                        <a:rPr b="1" sz="3400">
                          <a:solidFill>
                            <a:srgbClr val="FFFFFF"/>
                          </a:solidFill>
                          <a:latin typeface="Aptos"/>
                          <a:ea typeface="Aptos"/>
                          <a:cs typeface="Aptos"/>
                          <a:sym typeface="Aptos"/>
                        </a:rPr>
                        <a:t>State</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76200">
                      <a:solidFill>
                        <a:srgbClr val="FFFFFF"/>
                      </a:solidFill>
                    </a:lnB>
                    <a:solidFill>
                      <a:srgbClr val="156082"/>
                    </a:solidFill>
                  </a:tcPr>
                </a:tc>
                <a:tc>
                  <a:txBody>
                    <a:bodyPr/>
                    <a:lstStyle/>
                    <a:p>
                      <a:pPr algn="l" defTabSz="1828800">
                        <a:defRPr b="0"/>
                      </a:pPr>
                      <a:r>
                        <a:rPr b="1" sz="3400">
                          <a:solidFill>
                            <a:srgbClr val="FFFFFF"/>
                          </a:solidFill>
                          <a:latin typeface="Aptos"/>
                          <a:ea typeface="Aptos"/>
                          <a:cs typeface="Aptos"/>
                          <a:sym typeface="Aptos"/>
                        </a:rPr>
                        <a:t>Up</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76200">
                      <a:solidFill>
                        <a:srgbClr val="FFFFFF"/>
                      </a:solidFill>
                    </a:lnB>
                    <a:solidFill>
                      <a:srgbClr val="156082"/>
                    </a:solidFill>
                  </a:tcPr>
                </a:tc>
                <a:tc>
                  <a:txBody>
                    <a:bodyPr/>
                    <a:lstStyle/>
                    <a:p>
                      <a:pPr algn="l" defTabSz="1828800">
                        <a:defRPr b="0"/>
                      </a:pPr>
                      <a:r>
                        <a:rPr b="1" sz="3400">
                          <a:solidFill>
                            <a:srgbClr val="FFFFFF"/>
                          </a:solidFill>
                          <a:latin typeface="Aptos"/>
                          <a:ea typeface="Aptos"/>
                          <a:cs typeface="Aptos"/>
                          <a:sym typeface="Aptos"/>
                        </a:rPr>
                        <a:t>Down</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76200">
                      <a:solidFill>
                        <a:srgbClr val="FFFFFF"/>
                      </a:solidFill>
                    </a:lnB>
                    <a:solidFill>
                      <a:srgbClr val="156082"/>
                    </a:solidFill>
                  </a:tcPr>
                </a:tc>
                <a:tc>
                  <a:txBody>
                    <a:bodyPr/>
                    <a:lstStyle/>
                    <a:p>
                      <a:pPr algn="l" defTabSz="1828800">
                        <a:defRPr b="0"/>
                      </a:pPr>
                      <a:r>
                        <a:rPr b="1" sz="3400">
                          <a:solidFill>
                            <a:srgbClr val="FFFFFF"/>
                          </a:solidFill>
                          <a:latin typeface="Aptos"/>
                          <a:ea typeface="Aptos"/>
                          <a:cs typeface="Aptos"/>
                          <a:sym typeface="Aptos"/>
                        </a:rPr>
                        <a:t>Left </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76200">
                      <a:solidFill>
                        <a:srgbClr val="FFFFFF"/>
                      </a:solidFill>
                    </a:lnB>
                    <a:solidFill>
                      <a:srgbClr val="156082"/>
                    </a:solidFill>
                  </a:tcPr>
                </a:tc>
                <a:tc>
                  <a:txBody>
                    <a:bodyPr/>
                    <a:lstStyle/>
                    <a:p>
                      <a:pPr algn="l" defTabSz="1828800">
                        <a:defRPr b="0"/>
                      </a:pPr>
                      <a:r>
                        <a:rPr b="1" sz="3400">
                          <a:solidFill>
                            <a:srgbClr val="FFFFFF"/>
                          </a:solidFill>
                          <a:latin typeface="Aptos"/>
                          <a:ea typeface="Aptos"/>
                          <a:cs typeface="Aptos"/>
                          <a:sym typeface="Aptos"/>
                        </a:rPr>
                        <a:t>Right</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76200">
                      <a:solidFill>
                        <a:srgbClr val="FFFFFF"/>
                      </a:solidFill>
                    </a:lnB>
                    <a:solidFill>
                      <a:srgbClr val="156082"/>
                    </a:solidFill>
                  </a:tcPr>
                </a:tc>
              </a:tr>
              <a:tr h="580718">
                <a:tc>
                  <a:txBody>
                    <a:bodyPr/>
                    <a:lstStyle/>
                    <a:p>
                      <a:pPr algn="l" defTabSz="1828800"/>
                      <a:r>
                        <a:rPr sz="3400">
                          <a:latin typeface="Aptos"/>
                          <a:ea typeface="Aptos"/>
                          <a:cs typeface="Aptos"/>
                          <a:sym typeface="Aptos"/>
                        </a:rPr>
                        <a:t>1</a:t>
                      </a:r>
                    </a:p>
                  </a:txBody>
                  <a:tcPr marL="27376" marR="27376" marT="27376" marB="27376" anchor="t" anchorCtr="0" horzOverflow="overflow">
                    <a:lnL w="25400">
                      <a:solidFill>
                        <a:srgbClr val="FFFFFF"/>
                      </a:solidFill>
                    </a:lnL>
                    <a:lnR w="25400">
                      <a:solidFill>
                        <a:srgbClr val="FFFFFF"/>
                      </a:solidFill>
                    </a:lnR>
                    <a:lnT w="762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762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762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762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76200">
                      <a:solidFill>
                        <a:srgbClr val="FFFFFF"/>
                      </a:solidFill>
                    </a:lnT>
                    <a:lnB w="25400">
                      <a:solidFill>
                        <a:srgbClr val="FFFFFF"/>
                      </a:solidFill>
                    </a:lnB>
                    <a:solidFill>
                      <a:srgbClr val="CAD1D8"/>
                    </a:solidFill>
                  </a:tcPr>
                </a:tc>
              </a:tr>
              <a:tr h="546868">
                <a:tc>
                  <a:txBody>
                    <a:bodyPr/>
                    <a:lstStyle/>
                    <a:p>
                      <a:pPr algn="l" defTabSz="1828800"/>
                      <a:r>
                        <a:rPr sz="3400">
                          <a:latin typeface="Aptos"/>
                          <a:ea typeface="Aptos"/>
                          <a:cs typeface="Aptos"/>
                          <a:sym typeface="Aptos"/>
                        </a:rPr>
                        <a:t>2</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r>
              <a:tr h="546868">
                <a:tc>
                  <a:txBody>
                    <a:bodyPr/>
                    <a:lstStyle/>
                    <a:p>
                      <a:pPr algn="l" defTabSz="1828800"/>
                      <a:r>
                        <a:rPr sz="3400">
                          <a:latin typeface="Aptos"/>
                          <a:ea typeface="Aptos"/>
                          <a:cs typeface="Aptos"/>
                          <a:sym typeface="Aptos"/>
                        </a:rPr>
                        <a:t>3</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r>
              <a:tr h="546868">
                <a:tc>
                  <a:txBody>
                    <a:bodyPr/>
                    <a:lstStyle/>
                    <a:p>
                      <a:pPr algn="l" defTabSz="1828800"/>
                      <a:r>
                        <a:rPr sz="3400">
                          <a:latin typeface="Aptos"/>
                          <a:ea typeface="Aptos"/>
                          <a:cs typeface="Aptos"/>
                          <a:sym typeface="Aptos"/>
                        </a:rPr>
                        <a:t>4</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r>
              <a:tr h="546868">
                <a:tc>
                  <a:txBody>
                    <a:bodyPr/>
                    <a:lstStyle/>
                    <a:p>
                      <a:pPr algn="l" defTabSz="1828800"/>
                      <a:r>
                        <a:rPr sz="3400">
                          <a:latin typeface="Aptos"/>
                          <a:ea typeface="Aptos"/>
                          <a:cs typeface="Aptos"/>
                          <a:sym typeface="Aptos"/>
                        </a:rPr>
                        <a:t>5</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r>
              <a:tr h="546868">
                <a:tc>
                  <a:txBody>
                    <a:bodyPr/>
                    <a:lstStyle/>
                    <a:p>
                      <a:pPr algn="l" defTabSz="1828800"/>
                      <a:r>
                        <a:rPr sz="3400">
                          <a:latin typeface="Aptos"/>
                          <a:ea typeface="Aptos"/>
                          <a:cs typeface="Aptos"/>
                          <a:sym typeface="Aptos"/>
                        </a:rPr>
                        <a:t>…</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E7E9EC"/>
                    </a:solidFill>
                  </a:tcPr>
                </a:tc>
              </a:tr>
              <a:tr h="546868">
                <a:tc>
                  <a:txBody>
                    <a:bodyPr/>
                    <a:lstStyle/>
                    <a:p>
                      <a:pPr algn="l" defTabSz="1828800"/>
                      <a:r>
                        <a:rPr sz="3400">
                          <a:latin typeface="Aptos"/>
                          <a:ea typeface="Aptos"/>
                          <a:cs typeface="Aptos"/>
                          <a:sym typeface="Aptos"/>
                        </a:rPr>
                        <a:t>16</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c>
                  <a:txBody>
                    <a:bodyPr/>
                    <a:lstStyle/>
                    <a:p>
                      <a:pPr algn="l" defTabSz="1828800"/>
                      <a:r>
                        <a:rPr sz="3400">
                          <a:latin typeface="Aptos"/>
                          <a:ea typeface="Aptos"/>
                          <a:cs typeface="Aptos"/>
                          <a:sym typeface="Aptos"/>
                        </a:rPr>
                        <a:t>0</a:t>
                      </a:r>
                    </a:p>
                  </a:txBody>
                  <a:tcPr marL="27376" marR="27376" marT="27376" marB="27376" anchor="t" anchorCtr="0" horzOverflow="overflow">
                    <a:lnL w="25400">
                      <a:solidFill>
                        <a:srgbClr val="FFFFFF"/>
                      </a:solidFill>
                    </a:lnL>
                    <a:lnR w="25400">
                      <a:solidFill>
                        <a:srgbClr val="FFFFFF"/>
                      </a:solidFill>
                    </a:lnR>
                    <a:lnT w="25400">
                      <a:solidFill>
                        <a:srgbClr val="FFFFFF"/>
                      </a:solidFill>
                    </a:lnT>
                    <a:lnB w="25400">
                      <a:solidFill>
                        <a:srgbClr val="FFFFFF"/>
                      </a:solidFill>
                    </a:lnB>
                    <a:solidFill>
                      <a:srgbClr val="CAD1D8"/>
                    </a:solidFill>
                  </a:tcPr>
                </a:tc>
              </a:tr>
            </a:tbl>
          </a:graphicData>
        </a:graphic>
      </p:graphicFrame>
      <p:sp>
        <p:nvSpPr>
          <p:cNvPr id="187" name="Slide Number"/>
          <p:cNvSpPr txBox="1"/>
          <p:nvPr>
            <p:ph type="sldNum" sz="quarter" idx="2"/>
          </p:nvPr>
        </p:nvSpPr>
        <p:spPr>
          <a:xfrm>
            <a:off x="22342504" y="12802235"/>
            <a:ext cx="365096"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1" name="Picture 2" descr="Picture 2"/>
          <p:cNvPicPr>
            <a:picLocks noChangeAspect="0"/>
          </p:cNvPicPr>
          <p:nvPr/>
        </p:nvPicPr>
        <p:blipFill>
          <a:blip r:embed="rId3">
            <a:extLst/>
          </a:blip>
          <a:stretch>
            <a:fillRect/>
          </a:stretch>
        </p:blipFill>
        <p:spPr>
          <a:xfrm>
            <a:off x="1312207" y="1296818"/>
            <a:ext cx="8871449" cy="5914298"/>
          </a:xfrm>
          <a:prstGeom prst="rect">
            <a:avLst/>
          </a:prstGeom>
          <a:ln w="12700">
            <a:miter lim="400000"/>
          </a:ln>
        </p:spPr>
      </p:pic>
      <p:sp>
        <p:nvSpPr>
          <p:cNvPr id="192" name="Straight Arrow Connector 2"/>
          <p:cNvSpPr/>
          <p:nvPr/>
        </p:nvSpPr>
        <p:spPr>
          <a:xfrm flipH="1">
            <a:off x="6497674" y="1527855"/>
            <a:ext cx="3479704" cy="2141336"/>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193" name="TextBox 3"/>
          <p:cNvSpPr txBox="1"/>
          <p:nvPr/>
        </p:nvSpPr>
        <p:spPr>
          <a:xfrm>
            <a:off x="10068817" y="943081"/>
            <a:ext cx="2193789" cy="1160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1828800">
              <a:lnSpc>
                <a:spcPct val="100000"/>
              </a:lnSpc>
              <a:spcBef>
                <a:spcPts val="0"/>
              </a:spcBef>
              <a:defRPr sz="6400">
                <a:latin typeface="Aptos"/>
                <a:ea typeface="Aptos"/>
                <a:cs typeface="Aptos"/>
                <a:sym typeface="Aptos"/>
              </a:defRPr>
            </a:lvl1pPr>
          </a:lstStyle>
          <a:p>
            <a:pPr/>
            <a:r>
              <a:t>Pole</a:t>
            </a:r>
          </a:p>
        </p:txBody>
      </p:sp>
      <p:sp>
        <p:nvSpPr>
          <p:cNvPr id="194" name="TextBox 4"/>
          <p:cNvSpPr txBox="1"/>
          <p:nvPr/>
        </p:nvSpPr>
        <p:spPr>
          <a:xfrm>
            <a:off x="4807156" y="7662440"/>
            <a:ext cx="1881545" cy="1160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ctr" defTabSz="1828800">
              <a:lnSpc>
                <a:spcPct val="100000"/>
              </a:lnSpc>
              <a:spcBef>
                <a:spcPts val="0"/>
              </a:spcBef>
              <a:defRPr sz="6400">
                <a:latin typeface="Aptos"/>
                <a:ea typeface="Aptos"/>
                <a:cs typeface="Aptos"/>
                <a:sym typeface="Aptos"/>
              </a:defRPr>
            </a:lvl1pPr>
          </a:lstStyle>
          <a:p>
            <a:pPr/>
            <a:r>
              <a:t>Cart</a:t>
            </a:r>
          </a:p>
        </p:txBody>
      </p:sp>
      <p:sp>
        <p:nvSpPr>
          <p:cNvPr id="195" name="TextBox 11"/>
          <p:cNvSpPr txBox="1"/>
          <p:nvPr/>
        </p:nvSpPr>
        <p:spPr>
          <a:xfrm>
            <a:off x="14291785" y="690050"/>
            <a:ext cx="4497979" cy="31292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Actions</a:t>
            </a:r>
          </a:p>
          <a:p>
            <a:pPr defTabSz="1828800">
              <a:lnSpc>
                <a:spcPct val="100000"/>
              </a:lnSpc>
              <a:spcBef>
                <a:spcPts val="0"/>
              </a:spcBef>
              <a:defRPr>
                <a:latin typeface="Aptos"/>
                <a:ea typeface="Aptos"/>
                <a:cs typeface="Aptos"/>
                <a:sym typeface="Aptos"/>
              </a:defRPr>
            </a:pPr>
            <a:r>
              <a:t>0.) Do nothing</a:t>
            </a:r>
          </a:p>
          <a:p>
            <a:pPr defTabSz="1828800">
              <a:lnSpc>
                <a:spcPct val="100000"/>
              </a:lnSpc>
              <a:spcBef>
                <a:spcPts val="0"/>
              </a:spcBef>
              <a:defRPr>
                <a:latin typeface="Aptos"/>
                <a:ea typeface="Aptos"/>
                <a:cs typeface="Aptos"/>
                <a:sym typeface="Aptos"/>
              </a:defRPr>
            </a:pPr>
            <a:r>
              <a:t>1.) Move left</a:t>
            </a:r>
          </a:p>
          <a:p>
            <a:pPr defTabSz="1828800">
              <a:lnSpc>
                <a:spcPct val="100000"/>
              </a:lnSpc>
              <a:spcBef>
                <a:spcPts val="0"/>
              </a:spcBef>
              <a:defRPr>
                <a:latin typeface="Aptos"/>
                <a:ea typeface="Aptos"/>
                <a:cs typeface="Aptos"/>
                <a:sym typeface="Aptos"/>
              </a:defRPr>
            </a:pPr>
            <a:r>
              <a:t>2.) Move right</a:t>
            </a:r>
          </a:p>
        </p:txBody>
      </p:sp>
      <p:sp>
        <p:nvSpPr>
          <p:cNvPr id="196" name="TextBox 12"/>
          <p:cNvSpPr txBox="1"/>
          <p:nvPr/>
        </p:nvSpPr>
        <p:spPr>
          <a:xfrm>
            <a:off x="14291785" y="4700616"/>
            <a:ext cx="4497979" cy="38658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Observations</a:t>
            </a:r>
          </a:p>
          <a:p>
            <a:pPr defTabSz="1828800">
              <a:lnSpc>
                <a:spcPct val="100000"/>
              </a:lnSpc>
              <a:spcBef>
                <a:spcPts val="0"/>
              </a:spcBef>
              <a:defRPr>
                <a:latin typeface="Aptos"/>
                <a:ea typeface="Aptos"/>
                <a:cs typeface="Aptos"/>
                <a:sym typeface="Aptos"/>
              </a:defRPr>
            </a:pPr>
            <a:r>
              <a:t>1.) Cart position</a:t>
            </a:r>
          </a:p>
          <a:p>
            <a:pPr defTabSz="1828800">
              <a:lnSpc>
                <a:spcPct val="100000"/>
              </a:lnSpc>
              <a:spcBef>
                <a:spcPts val="0"/>
              </a:spcBef>
              <a:defRPr>
                <a:latin typeface="Aptos"/>
                <a:ea typeface="Aptos"/>
                <a:cs typeface="Aptos"/>
                <a:sym typeface="Aptos"/>
              </a:defRPr>
            </a:pPr>
            <a:r>
              <a:t>2.) Cart velocity</a:t>
            </a:r>
          </a:p>
          <a:p>
            <a:pPr defTabSz="1828800">
              <a:lnSpc>
                <a:spcPct val="100000"/>
              </a:lnSpc>
              <a:spcBef>
                <a:spcPts val="0"/>
              </a:spcBef>
              <a:defRPr>
                <a:latin typeface="Aptos"/>
                <a:ea typeface="Aptos"/>
                <a:cs typeface="Aptos"/>
                <a:sym typeface="Aptos"/>
              </a:defRPr>
            </a:pPr>
            <a:r>
              <a:t>3.) Pole Angle</a:t>
            </a:r>
          </a:p>
          <a:p>
            <a:pPr defTabSz="1828800">
              <a:lnSpc>
                <a:spcPct val="100000"/>
              </a:lnSpc>
              <a:spcBef>
                <a:spcPts val="0"/>
              </a:spcBef>
              <a:defRPr>
                <a:latin typeface="Aptos"/>
                <a:ea typeface="Aptos"/>
                <a:cs typeface="Aptos"/>
                <a:sym typeface="Aptos"/>
              </a:defRPr>
            </a:pPr>
            <a:r>
              <a:t>4.) Pole velocity</a:t>
            </a:r>
          </a:p>
        </p:txBody>
      </p:sp>
      <p:sp>
        <p:nvSpPr>
          <p:cNvPr id="197" name="TextBox 13"/>
          <p:cNvSpPr txBox="1"/>
          <p:nvPr/>
        </p:nvSpPr>
        <p:spPr>
          <a:xfrm>
            <a:off x="14291783" y="9918493"/>
            <a:ext cx="10000777" cy="2392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Reward</a:t>
            </a:r>
          </a:p>
          <a:p>
            <a:pPr defTabSz="1828800">
              <a:lnSpc>
                <a:spcPct val="100000"/>
              </a:lnSpc>
              <a:spcBef>
                <a:spcPts val="0"/>
              </a:spcBef>
              <a:defRPr>
                <a:latin typeface="Aptos"/>
                <a:ea typeface="Aptos"/>
                <a:cs typeface="Aptos"/>
                <a:sym typeface="Aptos"/>
              </a:defRPr>
            </a:pPr>
            <a:r>
              <a:t>For each timestep that the angle of the pole is less than +/- 12 degrees</a:t>
            </a:r>
          </a:p>
        </p:txBody>
      </p:sp>
      <p:sp>
        <p:nvSpPr>
          <p:cNvPr id="198" name="Straight Arrow Connector 18"/>
          <p:cNvSpPr/>
          <p:nvPr/>
        </p:nvSpPr>
        <p:spPr>
          <a:xfrm flipV="1">
            <a:off x="5747930" y="6439651"/>
            <a:ext cx="3" cy="1222789"/>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199" name="Slide Number"/>
          <p:cNvSpPr txBox="1"/>
          <p:nvPr>
            <p:ph type="sldNum" sz="quarter" idx="2"/>
          </p:nvPr>
        </p:nvSpPr>
        <p:spPr>
          <a:xfrm>
            <a:off x="22342504" y="12802235"/>
            <a:ext cx="365096"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3" name="Picture 2" descr="Picture 2"/>
          <p:cNvPicPr>
            <a:picLocks noChangeAspect="0"/>
          </p:cNvPicPr>
          <p:nvPr/>
        </p:nvPicPr>
        <p:blipFill>
          <a:blip r:embed="rId2">
            <a:extLst/>
          </a:blip>
          <a:stretch>
            <a:fillRect/>
          </a:stretch>
        </p:blipFill>
        <p:spPr>
          <a:xfrm>
            <a:off x="1312207" y="1296818"/>
            <a:ext cx="8871449" cy="5914298"/>
          </a:xfrm>
          <a:prstGeom prst="rect">
            <a:avLst/>
          </a:prstGeom>
          <a:ln w="12700">
            <a:miter lim="400000"/>
          </a:ln>
        </p:spPr>
      </p:pic>
      <p:sp>
        <p:nvSpPr>
          <p:cNvPr id="204" name="Straight Arrow Connector 2"/>
          <p:cNvSpPr/>
          <p:nvPr/>
        </p:nvSpPr>
        <p:spPr>
          <a:xfrm flipH="1">
            <a:off x="6497674" y="1527855"/>
            <a:ext cx="3479704" cy="2141336"/>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205" name="TextBox 3"/>
          <p:cNvSpPr txBox="1"/>
          <p:nvPr/>
        </p:nvSpPr>
        <p:spPr>
          <a:xfrm>
            <a:off x="10068817" y="943081"/>
            <a:ext cx="2193789" cy="1160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1828800">
              <a:lnSpc>
                <a:spcPct val="100000"/>
              </a:lnSpc>
              <a:spcBef>
                <a:spcPts val="0"/>
              </a:spcBef>
              <a:defRPr sz="6400">
                <a:latin typeface="Aptos"/>
                <a:ea typeface="Aptos"/>
                <a:cs typeface="Aptos"/>
                <a:sym typeface="Aptos"/>
              </a:defRPr>
            </a:lvl1pPr>
          </a:lstStyle>
          <a:p>
            <a:pPr/>
            <a:r>
              <a:t>Pole</a:t>
            </a:r>
          </a:p>
        </p:txBody>
      </p:sp>
      <p:sp>
        <p:nvSpPr>
          <p:cNvPr id="206" name="TextBox 4"/>
          <p:cNvSpPr txBox="1"/>
          <p:nvPr/>
        </p:nvSpPr>
        <p:spPr>
          <a:xfrm>
            <a:off x="4807156" y="7662440"/>
            <a:ext cx="1881545" cy="1160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ctr" defTabSz="1828800">
              <a:lnSpc>
                <a:spcPct val="100000"/>
              </a:lnSpc>
              <a:spcBef>
                <a:spcPts val="0"/>
              </a:spcBef>
              <a:defRPr sz="6400">
                <a:latin typeface="Aptos"/>
                <a:ea typeface="Aptos"/>
                <a:cs typeface="Aptos"/>
                <a:sym typeface="Aptos"/>
              </a:defRPr>
            </a:lvl1pPr>
          </a:lstStyle>
          <a:p>
            <a:pPr/>
            <a:r>
              <a:t>Cart</a:t>
            </a:r>
          </a:p>
        </p:txBody>
      </p:sp>
      <p:sp>
        <p:nvSpPr>
          <p:cNvPr id="207" name="Straight Arrow Connector 18"/>
          <p:cNvSpPr/>
          <p:nvPr/>
        </p:nvSpPr>
        <p:spPr>
          <a:xfrm flipV="1">
            <a:off x="5747930" y="6439651"/>
            <a:ext cx="3" cy="1222789"/>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208" name="TextBox 1"/>
          <p:cNvSpPr txBox="1"/>
          <p:nvPr/>
        </p:nvSpPr>
        <p:spPr>
          <a:xfrm>
            <a:off x="13762513" y="943082"/>
            <a:ext cx="4497979" cy="38658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Observations</a:t>
            </a:r>
          </a:p>
          <a:p>
            <a:pPr defTabSz="1828800">
              <a:lnSpc>
                <a:spcPct val="100000"/>
              </a:lnSpc>
              <a:spcBef>
                <a:spcPts val="0"/>
              </a:spcBef>
              <a:defRPr>
                <a:latin typeface="Aptos"/>
                <a:ea typeface="Aptos"/>
                <a:cs typeface="Aptos"/>
                <a:sym typeface="Aptos"/>
              </a:defRPr>
            </a:pPr>
            <a:r>
              <a:t>1.) Cart position</a:t>
            </a:r>
          </a:p>
          <a:p>
            <a:pPr defTabSz="1828800">
              <a:lnSpc>
                <a:spcPct val="100000"/>
              </a:lnSpc>
              <a:spcBef>
                <a:spcPts val="0"/>
              </a:spcBef>
              <a:defRPr>
                <a:latin typeface="Aptos"/>
                <a:ea typeface="Aptos"/>
                <a:cs typeface="Aptos"/>
                <a:sym typeface="Aptos"/>
              </a:defRPr>
            </a:pPr>
            <a:r>
              <a:t>2.) Cart velocity</a:t>
            </a:r>
          </a:p>
          <a:p>
            <a:pPr defTabSz="1828800">
              <a:lnSpc>
                <a:spcPct val="100000"/>
              </a:lnSpc>
              <a:spcBef>
                <a:spcPts val="0"/>
              </a:spcBef>
              <a:defRPr>
                <a:latin typeface="Aptos"/>
                <a:ea typeface="Aptos"/>
                <a:cs typeface="Aptos"/>
                <a:sym typeface="Aptos"/>
              </a:defRPr>
            </a:pPr>
            <a:r>
              <a:t>3.) Pole Angle</a:t>
            </a:r>
          </a:p>
          <a:p>
            <a:pPr defTabSz="1828800">
              <a:lnSpc>
                <a:spcPct val="100000"/>
              </a:lnSpc>
              <a:spcBef>
                <a:spcPts val="0"/>
              </a:spcBef>
              <a:defRPr>
                <a:latin typeface="Aptos"/>
                <a:ea typeface="Aptos"/>
                <a:cs typeface="Aptos"/>
                <a:sym typeface="Aptos"/>
              </a:defRPr>
            </a:pPr>
            <a:r>
              <a:t>4.) Pole velocity</a:t>
            </a:r>
          </a:p>
        </p:txBody>
      </p:sp>
      <p:sp>
        <p:nvSpPr>
          <p:cNvPr id="209" name="TextBox 5"/>
          <p:cNvSpPr txBox="1"/>
          <p:nvPr/>
        </p:nvSpPr>
        <p:spPr>
          <a:xfrm>
            <a:off x="11257152" y="8247213"/>
            <a:ext cx="10882515" cy="46024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a:latin typeface="Aptos"/>
                <a:ea typeface="Aptos"/>
                <a:cs typeface="Aptos"/>
                <a:sym typeface="Aptos"/>
              </a:defRPr>
            </a:pPr>
            <a:r>
              <a:t>What should our states be?</a:t>
            </a:r>
          </a:p>
          <a:p>
            <a:pPr defTabSz="1828800">
              <a:lnSpc>
                <a:spcPct val="100000"/>
              </a:lnSpc>
              <a:spcBef>
                <a:spcPts val="0"/>
              </a:spcBef>
              <a:defRPr>
                <a:latin typeface="Aptos"/>
                <a:ea typeface="Aptos"/>
                <a:cs typeface="Aptos"/>
                <a:sym typeface="Aptos"/>
              </a:defRPr>
            </a:pPr>
          </a:p>
          <a:p>
            <a:pPr defTabSz="1828800">
              <a:lnSpc>
                <a:spcPct val="100000"/>
              </a:lnSpc>
              <a:spcBef>
                <a:spcPts val="0"/>
              </a:spcBef>
              <a:defRPr>
                <a:latin typeface="Aptos"/>
                <a:ea typeface="Aptos"/>
                <a:cs typeface="Aptos"/>
                <a:sym typeface="Aptos"/>
              </a:defRPr>
            </a:pPr>
            <a:r>
              <a:t>We no longer have discrete states…</a:t>
            </a:r>
          </a:p>
          <a:p>
            <a:pPr defTabSz="1828800">
              <a:lnSpc>
                <a:spcPct val="100000"/>
              </a:lnSpc>
              <a:spcBef>
                <a:spcPts val="0"/>
              </a:spcBef>
              <a:defRPr>
                <a:latin typeface="Aptos"/>
                <a:ea typeface="Aptos"/>
                <a:cs typeface="Aptos"/>
                <a:sym typeface="Aptos"/>
              </a:defRPr>
            </a:pPr>
          </a:p>
          <a:p>
            <a:pPr defTabSz="1828800">
              <a:lnSpc>
                <a:spcPct val="100000"/>
              </a:lnSpc>
              <a:spcBef>
                <a:spcPts val="0"/>
              </a:spcBef>
              <a:defRPr>
                <a:latin typeface="Aptos"/>
                <a:ea typeface="Aptos"/>
                <a:cs typeface="Aptos"/>
                <a:sym typeface="Aptos"/>
              </a:defRPr>
            </a:pPr>
            <a:r>
              <a:t>But a continuous 4 dimensional space… </a:t>
            </a:r>
          </a:p>
        </p:txBody>
      </p:sp>
      <p:sp>
        <p:nvSpPr>
          <p:cNvPr id="210" name="Slide Number"/>
          <p:cNvSpPr txBox="1"/>
          <p:nvPr>
            <p:ph type="sldNum" sz="quarter" idx="2"/>
          </p:nvPr>
        </p:nvSpPr>
        <p:spPr>
          <a:xfrm>
            <a:off x="22342504" y="12802235"/>
            <a:ext cx="365096"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14" name="Group 29"/>
          <p:cNvGrpSpPr/>
          <p:nvPr/>
        </p:nvGrpSpPr>
        <p:grpSpPr>
          <a:xfrm>
            <a:off x="9633548" y="2548606"/>
            <a:ext cx="3192555" cy="8850906"/>
            <a:chOff x="0" y="0"/>
            <a:chExt cx="3192553" cy="8850905"/>
          </a:xfrm>
        </p:grpSpPr>
        <p:sp>
          <p:nvSpPr>
            <p:cNvPr id="212" name="TextBox 1"/>
            <p:cNvSpPr txBox="1"/>
            <p:nvPr/>
          </p:nvSpPr>
          <p:spPr>
            <a:xfrm>
              <a:off x="294931" y="0"/>
              <a:ext cx="2359270" cy="213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lvl1pPr algn="ctr" defTabSz="1828800">
                <a:lnSpc>
                  <a:spcPct val="100000"/>
                </a:lnSpc>
                <a:spcBef>
                  <a:spcPts val="0"/>
                </a:spcBef>
                <a:defRPr sz="6400">
                  <a:latin typeface="Aptos"/>
                  <a:ea typeface="Aptos"/>
                  <a:cs typeface="Aptos"/>
                  <a:sym typeface="Aptos"/>
                </a:defRPr>
              </a:lvl1pPr>
            </a:lstStyle>
            <a:p>
              <a:pPr/>
              <a:r>
                <a:t>Q Table</a:t>
              </a:r>
            </a:p>
          </p:txBody>
        </p:sp>
        <p:sp>
          <p:nvSpPr>
            <p:cNvPr id="213" name="TextBox 10"/>
            <p:cNvSpPr txBox="1"/>
            <p:nvPr/>
          </p:nvSpPr>
          <p:spPr>
            <a:xfrm>
              <a:off x="0" y="6712225"/>
              <a:ext cx="3192554" cy="213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lvl1pPr algn="ctr" defTabSz="1828800">
                <a:lnSpc>
                  <a:spcPct val="100000"/>
                </a:lnSpc>
                <a:spcBef>
                  <a:spcPts val="0"/>
                </a:spcBef>
                <a:defRPr sz="6400">
                  <a:latin typeface="Aptos"/>
                  <a:ea typeface="Aptos"/>
                  <a:cs typeface="Aptos"/>
                  <a:sym typeface="Aptos"/>
                </a:defRPr>
              </a:lvl1pPr>
            </a:lstStyle>
            <a:p>
              <a:pPr/>
              <a:r>
                <a:t>Some function</a:t>
              </a:r>
            </a:p>
          </p:txBody>
        </p:sp>
      </p:grpSp>
      <p:grpSp>
        <p:nvGrpSpPr>
          <p:cNvPr id="217" name="Group 30"/>
          <p:cNvGrpSpPr/>
          <p:nvPr/>
        </p:nvGrpSpPr>
        <p:grpSpPr>
          <a:xfrm>
            <a:off x="16618801" y="2548605"/>
            <a:ext cx="6428323" cy="8850908"/>
            <a:chOff x="0" y="0"/>
            <a:chExt cx="6428321" cy="8850905"/>
          </a:xfrm>
        </p:grpSpPr>
        <p:sp>
          <p:nvSpPr>
            <p:cNvPr id="215" name="TextBox 2"/>
            <p:cNvSpPr txBox="1"/>
            <p:nvPr/>
          </p:nvSpPr>
          <p:spPr>
            <a:xfrm>
              <a:off x="0" y="0"/>
              <a:ext cx="6428322" cy="21386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lvl1pPr algn="ctr" defTabSz="1828800">
                <a:lnSpc>
                  <a:spcPct val="100000"/>
                </a:lnSpc>
                <a:spcBef>
                  <a:spcPts val="0"/>
                </a:spcBef>
                <a:defRPr sz="6400">
                  <a:latin typeface="Aptos"/>
                  <a:ea typeface="Aptos"/>
                  <a:cs typeface="Aptos"/>
                  <a:sym typeface="Aptos"/>
                </a:defRPr>
              </a:lvl1pPr>
            </a:lstStyle>
            <a:p>
              <a:pPr/>
              <a:r>
                <a:t>Value of each action</a:t>
              </a:r>
            </a:p>
          </p:txBody>
        </p:sp>
        <p:sp>
          <p:nvSpPr>
            <p:cNvPr id="216" name="TextBox 11"/>
            <p:cNvSpPr txBox="1"/>
            <p:nvPr/>
          </p:nvSpPr>
          <p:spPr>
            <a:xfrm>
              <a:off x="700653" y="6712225"/>
              <a:ext cx="5027015" cy="213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lvl1pPr algn="ctr" defTabSz="1828800">
                <a:lnSpc>
                  <a:spcPct val="100000"/>
                </a:lnSpc>
                <a:spcBef>
                  <a:spcPts val="0"/>
                </a:spcBef>
                <a:defRPr sz="6400">
                  <a:latin typeface="Aptos"/>
                  <a:ea typeface="Aptos"/>
                  <a:cs typeface="Aptos"/>
                  <a:sym typeface="Aptos"/>
                </a:defRPr>
              </a:lvl1pPr>
            </a:lstStyle>
            <a:p>
              <a:pPr/>
              <a:r>
                <a:t>Value of each action</a:t>
              </a:r>
            </a:p>
          </p:txBody>
        </p:sp>
      </p:grpSp>
      <p:grpSp>
        <p:nvGrpSpPr>
          <p:cNvPr id="220" name="Group 28"/>
          <p:cNvGrpSpPr/>
          <p:nvPr/>
        </p:nvGrpSpPr>
        <p:grpSpPr>
          <a:xfrm>
            <a:off x="1098054" y="2548605"/>
            <a:ext cx="4326103" cy="8850908"/>
            <a:chOff x="0" y="0"/>
            <a:chExt cx="4326102" cy="8850905"/>
          </a:xfrm>
        </p:grpSpPr>
        <p:sp>
          <p:nvSpPr>
            <p:cNvPr id="218" name="TextBox 3"/>
            <p:cNvSpPr txBox="1"/>
            <p:nvPr/>
          </p:nvSpPr>
          <p:spPr>
            <a:xfrm>
              <a:off x="387880" y="0"/>
              <a:ext cx="3550343" cy="21386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lvl1pPr algn="ctr" defTabSz="1828800">
                <a:lnSpc>
                  <a:spcPct val="100000"/>
                </a:lnSpc>
                <a:spcBef>
                  <a:spcPts val="0"/>
                </a:spcBef>
                <a:defRPr sz="6400">
                  <a:latin typeface="Aptos"/>
                  <a:ea typeface="Aptos"/>
                  <a:cs typeface="Aptos"/>
                  <a:sym typeface="Aptos"/>
                </a:defRPr>
              </a:lvl1pPr>
            </a:lstStyle>
            <a:p>
              <a:pPr/>
              <a:r>
                <a:t>Discrete state</a:t>
              </a:r>
            </a:p>
          </p:txBody>
        </p:sp>
        <p:sp>
          <p:nvSpPr>
            <p:cNvPr id="219" name="TextBox 12"/>
            <p:cNvSpPr txBox="1"/>
            <p:nvPr/>
          </p:nvSpPr>
          <p:spPr>
            <a:xfrm>
              <a:off x="0" y="6712225"/>
              <a:ext cx="4326103" cy="213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lvl1pPr algn="ctr" defTabSz="1828800">
                <a:lnSpc>
                  <a:spcPct val="100000"/>
                </a:lnSpc>
                <a:spcBef>
                  <a:spcPts val="0"/>
                </a:spcBef>
                <a:defRPr sz="6400">
                  <a:latin typeface="Aptos"/>
                  <a:ea typeface="Aptos"/>
                  <a:cs typeface="Aptos"/>
                  <a:sym typeface="Aptos"/>
                </a:defRPr>
              </a:lvl1pPr>
            </a:lstStyle>
            <a:p>
              <a:pPr/>
              <a:r>
                <a:t>Continuous state</a:t>
              </a:r>
            </a:p>
          </p:txBody>
        </p:sp>
      </p:grpSp>
      <p:sp>
        <p:nvSpPr>
          <p:cNvPr id="221" name="Straight Arrow Connector 31"/>
          <p:cNvSpPr/>
          <p:nvPr/>
        </p:nvSpPr>
        <p:spPr>
          <a:xfrm>
            <a:off x="6169874" y="3426104"/>
            <a:ext cx="2880001" cy="1"/>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222" name="Straight Arrow Connector 33"/>
          <p:cNvSpPr/>
          <p:nvPr/>
        </p:nvSpPr>
        <p:spPr>
          <a:xfrm>
            <a:off x="13518802" y="3426104"/>
            <a:ext cx="2880001" cy="1"/>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223" name="Straight Arrow Connector 34"/>
          <p:cNvSpPr/>
          <p:nvPr/>
        </p:nvSpPr>
        <p:spPr>
          <a:xfrm>
            <a:off x="6169874" y="10073831"/>
            <a:ext cx="2880001" cy="1"/>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224" name="Straight Arrow Connector 35"/>
          <p:cNvSpPr/>
          <p:nvPr/>
        </p:nvSpPr>
        <p:spPr>
          <a:xfrm>
            <a:off x="13518802" y="10282176"/>
            <a:ext cx="2880001" cy="1"/>
          </a:xfrm>
          <a:prstGeom prst="line">
            <a:avLst/>
          </a:prstGeom>
          <a:ln w="101600">
            <a:solidFill>
              <a:srgbClr val="000000"/>
            </a:solidFill>
            <a:miter/>
            <a:tailEnd type="stealth"/>
          </a:ln>
        </p:spPr>
        <p:txBody>
          <a:bodyPr tIns="91439" bIns="91439"/>
          <a:lstStyle/>
          <a:p>
            <a:pPr defTabSz="1828800">
              <a:lnSpc>
                <a:spcPct val="100000"/>
              </a:lnSpc>
              <a:spcBef>
                <a:spcPts val="0"/>
              </a:spcBef>
              <a:defRPr sz="3600">
                <a:latin typeface="Aptos"/>
                <a:ea typeface="Aptos"/>
                <a:cs typeface="Aptos"/>
                <a:sym typeface="Aptos"/>
              </a:defRPr>
            </a:pPr>
          </a:p>
        </p:txBody>
      </p:sp>
      <p:sp>
        <p:nvSpPr>
          <p:cNvPr id="225" name="Slide Number"/>
          <p:cNvSpPr txBox="1"/>
          <p:nvPr>
            <p:ph type="sldNum" sz="quarter" idx="2"/>
          </p:nvPr>
        </p:nvSpPr>
        <p:spPr>
          <a:xfrm>
            <a:off x="22342504" y="12802235"/>
            <a:ext cx="365096"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60" name="Group 1"/>
          <p:cNvGrpSpPr/>
          <p:nvPr/>
        </p:nvGrpSpPr>
        <p:grpSpPr>
          <a:xfrm>
            <a:off x="8128113" y="4665691"/>
            <a:ext cx="8492414" cy="3819281"/>
            <a:chOff x="0" y="0"/>
            <a:chExt cx="8492412" cy="3819279"/>
          </a:xfrm>
        </p:grpSpPr>
        <p:grpSp>
          <p:nvGrpSpPr>
            <p:cNvPr id="344" name="Group 5"/>
            <p:cNvGrpSpPr/>
            <p:nvPr/>
          </p:nvGrpSpPr>
          <p:grpSpPr>
            <a:xfrm>
              <a:off x="-1" y="-1"/>
              <a:ext cx="6232442" cy="3819281"/>
              <a:chOff x="0" y="0"/>
              <a:chExt cx="6232440" cy="3819279"/>
            </a:xfrm>
          </p:grpSpPr>
          <p:grpSp>
            <p:nvGrpSpPr>
              <p:cNvPr id="257" name="Group 2325"/>
              <p:cNvGrpSpPr/>
              <p:nvPr/>
            </p:nvGrpSpPr>
            <p:grpSpPr>
              <a:xfrm>
                <a:off x="-1" y="46496"/>
                <a:ext cx="1684342" cy="3772784"/>
                <a:chOff x="0" y="0"/>
                <a:chExt cx="1684340" cy="3772783"/>
              </a:xfrm>
            </p:grpSpPr>
            <p:grpSp>
              <p:nvGrpSpPr>
                <p:cNvPr id="231" name="Group 2079"/>
                <p:cNvGrpSpPr/>
                <p:nvPr/>
              </p:nvGrpSpPr>
              <p:grpSpPr>
                <a:xfrm>
                  <a:off x="-1" y="-1"/>
                  <a:ext cx="1684342" cy="3018243"/>
                  <a:chOff x="0" y="0"/>
                  <a:chExt cx="1684340" cy="3018241"/>
                </a:xfrm>
              </p:grpSpPr>
              <p:sp>
                <p:nvSpPr>
                  <p:cNvPr id="227" name="Straight Connector 2060"/>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28" name="Straight Connector 2064"/>
                  <p:cNvSpPr/>
                  <p:nvPr/>
                </p:nvSpPr>
                <p:spPr>
                  <a:xfrm flipV="1">
                    <a:off x="-1" y="1"/>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29" name="Straight Connector 2067"/>
                  <p:cNvSpPr/>
                  <p:nvPr/>
                </p:nvSpPr>
                <p:spPr>
                  <a:xfrm flipV="1">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30" name="Straight Connector 2070"/>
                  <p:cNvSpPr/>
                  <p:nvPr/>
                </p:nvSpPr>
                <p:spPr>
                  <a:xfrm flipV="1">
                    <a:off x="-1" y="-1"/>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36" name="Group 2080"/>
                <p:cNvGrpSpPr/>
                <p:nvPr/>
              </p:nvGrpSpPr>
              <p:grpSpPr>
                <a:xfrm>
                  <a:off x="-1" y="754556"/>
                  <a:ext cx="1684342" cy="2263672"/>
                  <a:chOff x="0" y="0"/>
                  <a:chExt cx="1684340" cy="2263670"/>
                </a:xfrm>
              </p:grpSpPr>
              <p:sp>
                <p:nvSpPr>
                  <p:cNvPr id="232" name="Straight Connector 2082"/>
                  <p:cNvSpPr/>
                  <p:nvPr/>
                </p:nvSpPr>
                <p:spPr>
                  <a:xfrm>
                    <a:off x="-1" y="0"/>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33" name="Straight Connector 2083"/>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34" name="Straight Connector 2084"/>
                  <p:cNvSpPr/>
                  <p:nvPr/>
                </p:nvSpPr>
                <p:spPr>
                  <a:xfrm flipV="1">
                    <a:off x="-1" y="1"/>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35" name="Straight Connector 2085"/>
                  <p:cNvSpPr/>
                  <p:nvPr/>
                </p:nvSpPr>
                <p:spPr>
                  <a:xfrm flipV="1">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41" name="Group 2092"/>
                <p:cNvGrpSpPr/>
                <p:nvPr/>
              </p:nvGrpSpPr>
              <p:grpSpPr>
                <a:xfrm>
                  <a:off x="-1" y="754557"/>
                  <a:ext cx="1684342" cy="2263671"/>
                  <a:chOff x="0" y="0"/>
                  <a:chExt cx="1684340" cy="2263670"/>
                </a:xfrm>
              </p:grpSpPr>
              <p:sp>
                <p:nvSpPr>
                  <p:cNvPr id="237" name="Straight Connector 2093"/>
                  <p:cNvSpPr/>
                  <p:nvPr/>
                </p:nvSpPr>
                <p:spPr>
                  <a:xfrm>
                    <a:off x="-1" y="0"/>
                    <a:ext cx="1684342"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38" name="Straight Connector 2094"/>
                  <p:cNvSpPr/>
                  <p:nvPr/>
                </p:nvSpPr>
                <p:spPr>
                  <a:xfrm>
                    <a:off x="-1" y="754556"/>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39" name="Straight Connector 2095"/>
                  <p:cNvSpPr/>
                  <p:nvPr/>
                </p:nvSpPr>
                <p:spPr>
                  <a:xfrm flipV="1">
                    <a:off x="-1" y="754557"/>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40" name="Straight Connector 2096"/>
                  <p:cNvSpPr/>
                  <p:nvPr/>
                </p:nvSpPr>
                <p:spPr>
                  <a:xfrm flipV="1">
                    <a:off x="-1" y="754558"/>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46" name="Group 2102"/>
                <p:cNvGrpSpPr/>
                <p:nvPr/>
              </p:nvGrpSpPr>
              <p:grpSpPr>
                <a:xfrm>
                  <a:off x="-1" y="754556"/>
                  <a:ext cx="1684342" cy="2263672"/>
                  <a:chOff x="0" y="0"/>
                  <a:chExt cx="1684340" cy="2263670"/>
                </a:xfrm>
              </p:grpSpPr>
              <p:sp>
                <p:nvSpPr>
                  <p:cNvPr id="242" name="Straight Connector 2103"/>
                  <p:cNvSpPr/>
                  <p:nvPr/>
                </p:nvSpPr>
                <p:spPr>
                  <a:xfrm>
                    <a:off x="-1" y="754557"/>
                    <a:ext cx="1684342"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43" name="Straight Connector 2104"/>
                  <p:cNvSpPr/>
                  <p:nvPr/>
                </p:nvSpPr>
                <p:spPr>
                  <a:xfrm>
                    <a:off x="-1" y="1509113"/>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44" name="Straight Connector 2105"/>
                  <p:cNvSpPr/>
                  <p:nvPr/>
                </p:nvSpPr>
                <p:spPr>
                  <a:xfrm flipV="1">
                    <a:off x="-1" y="1509114"/>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45" name="Straight Connector 2110"/>
                  <p:cNvSpPr/>
                  <p:nvPr/>
                </p:nvSpPr>
                <p:spPr>
                  <a:xfrm>
                    <a:off x="0" y="-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51" name="Group 2113"/>
                <p:cNvGrpSpPr/>
                <p:nvPr/>
              </p:nvGrpSpPr>
              <p:grpSpPr>
                <a:xfrm>
                  <a:off x="-1" y="754556"/>
                  <a:ext cx="1684342" cy="2263672"/>
                  <a:chOff x="0" y="0"/>
                  <a:chExt cx="1684340" cy="2263670"/>
                </a:xfrm>
              </p:grpSpPr>
              <p:sp>
                <p:nvSpPr>
                  <p:cNvPr id="247" name="Straight Connector 2114"/>
                  <p:cNvSpPr/>
                  <p:nvPr/>
                </p:nvSpPr>
                <p:spPr>
                  <a:xfrm>
                    <a:off x="-1" y="1509113"/>
                    <a:ext cx="1684342"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48" name="Straight Connector 2115"/>
                  <p:cNvSpPr/>
                  <p:nvPr/>
                </p:nvSpPr>
                <p:spPr>
                  <a:xfrm>
                    <a:off x="-1" y="2263670"/>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49" name="Straight Connector 2120"/>
                  <p:cNvSpPr/>
                  <p:nvPr/>
                </p:nvSpPr>
                <p:spPr>
                  <a:xfrm>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50" name="Straight Connector 2121"/>
                  <p:cNvSpPr/>
                  <p:nvPr/>
                </p:nvSpPr>
                <p:spPr>
                  <a:xfrm>
                    <a:off x="0" y="754556"/>
                    <a:ext cx="1684340"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56" name="Group 2123"/>
                <p:cNvGrpSpPr/>
                <p:nvPr/>
              </p:nvGrpSpPr>
              <p:grpSpPr>
                <a:xfrm>
                  <a:off x="-1" y="754556"/>
                  <a:ext cx="1684342" cy="3018228"/>
                  <a:chOff x="0" y="0"/>
                  <a:chExt cx="1684340" cy="3018227"/>
                </a:xfrm>
              </p:grpSpPr>
              <p:sp>
                <p:nvSpPr>
                  <p:cNvPr id="252" name="Straight Connector 2124"/>
                  <p:cNvSpPr/>
                  <p:nvPr/>
                </p:nvSpPr>
                <p:spPr>
                  <a:xfrm>
                    <a:off x="-1" y="2263670"/>
                    <a:ext cx="1684342"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53" name="Straight Connector 2129"/>
                  <p:cNvSpPr/>
                  <p:nvPr/>
                </p:nvSpPr>
                <p:spPr>
                  <a:xfrm>
                    <a:off x="0" y="-1"/>
                    <a:ext cx="1684340" cy="301822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54" name="Straight Connector 2130"/>
                  <p:cNvSpPr/>
                  <p:nvPr/>
                </p:nvSpPr>
                <p:spPr>
                  <a:xfrm>
                    <a:off x="0" y="754556"/>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55" name="Straight Connector 2131"/>
                  <p:cNvSpPr/>
                  <p:nvPr/>
                </p:nvSpPr>
                <p:spPr>
                  <a:xfrm>
                    <a:off x="0" y="1509113"/>
                    <a:ext cx="1684340"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nvGrpSpPr>
              <p:cNvPr id="300" name="Group 2445"/>
              <p:cNvGrpSpPr/>
              <p:nvPr/>
            </p:nvGrpSpPr>
            <p:grpSpPr>
              <a:xfrm>
                <a:off x="2279525" y="-1"/>
                <a:ext cx="1684342" cy="3772802"/>
                <a:chOff x="0" y="0"/>
                <a:chExt cx="1684340" cy="3772800"/>
              </a:xfrm>
            </p:grpSpPr>
            <p:grpSp>
              <p:nvGrpSpPr>
                <p:cNvPr id="264" name="Group 2133"/>
                <p:cNvGrpSpPr/>
                <p:nvPr/>
              </p:nvGrpSpPr>
              <p:grpSpPr>
                <a:xfrm>
                  <a:off x="-1" y="-1"/>
                  <a:ext cx="1684342" cy="3772802"/>
                  <a:chOff x="0" y="0"/>
                  <a:chExt cx="1684340" cy="3772800"/>
                </a:xfrm>
              </p:grpSpPr>
              <p:sp>
                <p:nvSpPr>
                  <p:cNvPr id="258" name="Straight Connector 2135"/>
                  <p:cNvSpPr/>
                  <p:nvPr/>
                </p:nvSpPr>
                <p:spPr>
                  <a:xfrm>
                    <a:off x="-1" y="-1"/>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59" name="Straight Connector 2136"/>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0" name="Straight Connector 2137"/>
                  <p:cNvSpPr/>
                  <p:nvPr/>
                </p:nvSpPr>
                <p:spPr>
                  <a:xfrm flipV="1">
                    <a:off x="-1" y="1"/>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1" name="Straight Connector 2138"/>
                  <p:cNvSpPr/>
                  <p:nvPr/>
                </p:nvSpPr>
                <p:spPr>
                  <a:xfrm flipV="1">
                    <a:off x="0" y="0"/>
                    <a:ext cx="1684340" cy="226368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2" name="Straight Connector 2139"/>
                  <p:cNvSpPr/>
                  <p:nvPr/>
                </p:nvSpPr>
                <p:spPr>
                  <a:xfrm flipV="1">
                    <a:off x="-1" y="1"/>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3" name="Straight Connector 2140"/>
                  <p:cNvSpPr/>
                  <p:nvPr/>
                </p:nvSpPr>
                <p:spPr>
                  <a:xfrm flipV="1">
                    <a:off x="0" y="-1"/>
                    <a:ext cx="1684341" cy="3772802"/>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71" name="Group 2142"/>
                <p:cNvGrpSpPr/>
                <p:nvPr/>
              </p:nvGrpSpPr>
              <p:grpSpPr>
                <a:xfrm>
                  <a:off x="-1" y="-1"/>
                  <a:ext cx="1684341" cy="3772802"/>
                  <a:chOff x="0" y="0"/>
                  <a:chExt cx="1684340" cy="3772800"/>
                </a:xfrm>
              </p:grpSpPr>
              <p:sp>
                <p:nvSpPr>
                  <p:cNvPr id="265" name="Straight Connector 2143"/>
                  <p:cNvSpPr/>
                  <p:nvPr/>
                </p:nvSpPr>
                <p:spPr>
                  <a:xfrm>
                    <a:off x="0" y="-1"/>
                    <a:ext cx="1684340"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6" name="Straight Connector 2144"/>
                  <p:cNvSpPr/>
                  <p:nvPr/>
                </p:nvSpPr>
                <p:spPr>
                  <a:xfrm>
                    <a:off x="-1" y="754556"/>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7" name="Straight Connector 2145"/>
                  <p:cNvSpPr/>
                  <p:nvPr/>
                </p:nvSpPr>
                <p:spPr>
                  <a:xfrm flipV="1">
                    <a:off x="-1" y="754557"/>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8" name="Straight Connector 2146"/>
                  <p:cNvSpPr/>
                  <p:nvPr/>
                </p:nvSpPr>
                <p:spPr>
                  <a:xfrm flipV="1">
                    <a:off x="-1" y="754558"/>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69" name="Straight Connector 2147"/>
                  <p:cNvSpPr/>
                  <p:nvPr/>
                </p:nvSpPr>
                <p:spPr>
                  <a:xfrm flipV="1">
                    <a:off x="0" y="754557"/>
                    <a:ext cx="1684340" cy="226368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70" name="Straight Connector 2148"/>
                  <p:cNvSpPr/>
                  <p:nvPr/>
                </p:nvSpPr>
                <p:spPr>
                  <a:xfrm flipV="1">
                    <a:off x="-1" y="754558"/>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78" name="Group 2151"/>
                <p:cNvGrpSpPr/>
                <p:nvPr/>
              </p:nvGrpSpPr>
              <p:grpSpPr>
                <a:xfrm>
                  <a:off x="0" y="-1"/>
                  <a:ext cx="1684341" cy="3772802"/>
                  <a:chOff x="0" y="0"/>
                  <a:chExt cx="1684340" cy="3772800"/>
                </a:xfrm>
              </p:grpSpPr>
              <p:sp>
                <p:nvSpPr>
                  <p:cNvPr id="272" name="Straight Connector 2152"/>
                  <p:cNvSpPr/>
                  <p:nvPr/>
                </p:nvSpPr>
                <p:spPr>
                  <a:xfrm>
                    <a:off x="0" y="754556"/>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73" name="Straight Connector 2153"/>
                  <p:cNvSpPr/>
                  <p:nvPr/>
                </p:nvSpPr>
                <p:spPr>
                  <a:xfrm>
                    <a:off x="-1" y="1509113"/>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74" name="Straight Connector 2154"/>
                  <p:cNvSpPr/>
                  <p:nvPr/>
                </p:nvSpPr>
                <p:spPr>
                  <a:xfrm flipV="1">
                    <a:off x="-1" y="1509113"/>
                    <a:ext cx="1684342" cy="75455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75" name="Straight Connector 2155"/>
                  <p:cNvSpPr/>
                  <p:nvPr/>
                </p:nvSpPr>
                <p:spPr>
                  <a:xfrm flipV="1">
                    <a:off x="-1" y="1509115"/>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76" name="Straight Connector 2156"/>
                  <p:cNvSpPr/>
                  <p:nvPr/>
                </p:nvSpPr>
                <p:spPr>
                  <a:xfrm flipV="1">
                    <a:off x="0" y="1509113"/>
                    <a:ext cx="1684340" cy="226368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77" name="Straight Connector 2159"/>
                  <p:cNvSpPr/>
                  <p:nvPr/>
                </p:nvSpPr>
                <p:spPr>
                  <a:xfrm>
                    <a:off x="0" y="-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85" name="Group 2160"/>
                <p:cNvGrpSpPr/>
                <p:nvPr/>
              </p:nvGrpSpPr>
              <p:grpSpPr>
                <a:xfrm>
                  <a:off x="-1" y="-1"/>
                  <a:ext cx="1684342" cy="3772787"/>
                  <a:chOff x="0" y="0"/>
                  <a:chExt cx="1684340" cy="3772785"/>
                </a:xfrm>
              </p:grpSpPr>
              <p:sp>
                <p:nvSpPr>
                  <p:cNvPr id="279" name="Straight Connector 2161"/>
                  <p:cNvSpPr/>
                  <p:nvPr/>
                </p:nvSpPr>
                <p:spPr>
                  <a:xfrm>
                    <a:off x="-1" y="1509113"/>
                    <a:ext cx="1684342" cy="75455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0" name="Straight Connector 2162"/>
                  <p:cNvSpPr/>
                  <p:nvPr/>
                </p:nvSpPr>
                <p:spPr>
                  <a:xfrm>
                    <a:off x="-1" y="2263671"/>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1" name="Straight Connector 2163"/>
                  <p:cNvSpPr/>
                  <p:nvPr/>
                </p:nvSpPr>
                <p:spPr>
                  <a:xfrm flipV="1">
                    <a:off x="-1" y="2263672"/>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2" name="Straight Connector 2164"/>
                  <p:cNvSpPr/>
                  <p:nvPr/>
                </p:nvSpPr>
                <p:spPr>
                  <a:xfrm flipV="1">
                    <a:off x="-1" y="2263673"/>
                    <a:ext cx="1684342"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3" name="Straight Connector 2167"/>
                  <p:cNvSpPr/>
                  <p:nvPr/>
                </p:nvSpPr>
                <p:spPr>
                  <a:xfrm>
                    <a:off x="0" y="-1"/>
                    <a:ext cx="1684340" cy="226367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4" name="Straight Connector 2168"/>
                  <p:cNvSpPr/>
                  <p:nvPr/>
                </p:nvSpPr>
                <p:spPr>
                  <a:xfrm>
                    <a:off x="0" y="754556"/>
                    <a:ext cx="1684340"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92" name="Group 2169"/>
                <p:cNvGrpSpPr/>
                <p:nvPr/>
              </p:nvGrpSpPr>
              <p:grpSpPr>
                <a:xfrm>
                  <a:off x="-1" y="0"/>
                  <a:ext cx="1684342" cy="3772786"/>
                  <a:chOff x="0" y="0"/>
                  <a:chExt cx="1684340" cy="3772785"/>
                </a:xfrm>
              </p:grpSpPr>
              <p:sp>
                <p:nvSpPr>
                  <p:cNvPr id="286" name="Straight Connector 2170"/>
                  <p:cNvSpPr/>
                  <p:nvPr/>
                </p:nvSpPr>
                <p:spPr>
                  <a:xfrm>
                    <a:off x="0" y="2263671"/>
                    <a:ext cx="1684340"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7" name="Straight Connector 2171"/>
                  <p:cNvSpPr/>
                  <p:nvPr/>
                </p:nvSpPr>
                <p:spPr>
                  <a:xfrm>
                    <a:off x="-1" y="3018228"/>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8" name="Straight Connector 2172"/>
                  <p:cNvSpPr/>
                  <p:nvPr/>
                </p:nvSpPr>
                <p:spPr>
                  <a:xfrm flipV="1">
                    <a:off x="-1" y="3018229"/>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89" name="Straight Connector 2175"/>
                  <p:cNvSpPr/>
                  <p:nvPr/>
                </p:nvSpPr>
                <p:spPr>
                  <a:xfrm>
                    <a:off x="-1" y="0"/>
                    <a:ext cx="1684342"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90" name="Straight Connector 2176"/>
                  <p:cNvSpPr/>
                  <p:nvPr/>
                </p:nvSpPr>
                <p:spPr>
                  <a:xfrm>
                    <a:off x="0" y="754556"/>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91" name="Straight Connector 2177"/>
                  <p:cNvSpPr/>
                  <p:nvPr/>
                </p:nvSpPr>
                <p:spPr>
                  <a:xfrm>
                    <a:off x="0" y="1509113"/>
                    <a:ext cx="1684340"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299" name="Group 2178"/>
                <p:cNvGrpSpPr/>
                <p:nvPr/>
              </p:nvGrpSpPr>
              <p:grpSpPr>
                <a:xfrm>
                  <a:off x="-1" y="0"/>
                  <a:ext cx="1684342" cy="3772786"/>
                  <a:chOff x="0" y="0"/>
                  <a:chExt cx="1684340" cy="3772785"/>
                </a:xfrm>
              </p:grpSpPr>
              <p:sp>
                <p:nvSpPr>
                  <p:cNvPr id="293" name="Straight Connector 2179"/>
                  <p:cNvSpPr/>
                  <p:nvPr/>
                </p:nvSpPr>
                <p:spPr>
                  <a:xfrm>
                    <a:off x="0" y="3018228"/>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94" name="Straight Connector 2180"/>
                  <p:cNvSpPr/>
                  <p:nvPr/>
                </p:nvSpPr>
                <p:spPr>
                  <a:xfrm>
                    <a:off x="-1" y="3772785"/>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95" name="Straight Connector 2183"/>
                  <p:cNvSpPr/>
                  <p:nvPr/>
                </p:nvSpPr>
                <p:spPr>
                  <a:xfrm>
                    <a:off x="-1" y="0"/>
                    <a:ext cx="1684342" cy="377278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96" name="Straight Connector 2184"/>
                  <p:cNvSpPr/>
                  <p:nvPr/>
                </p:nvSpPr>
                <p:spPr>
                  <a:xfrm>
                    <a:off x="-1" y="754556"/>
                    <a:ext cx="1684342"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97" name="Straight Connector 2185"/>
                  <p:cNvSpPr/>
                  <p:nvPr/>
                </p:nvSpPr>
                <p:spPr>
                  <a:xfrm>
                    <a:off x="0" y="1509113"/>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298" name="Straight Connector 2186"/>
                  <p:cNvSpPr/>
                  <p:nvPr/>
                </p:nvSpPr>
                <p:spPr>
                  <a:xfrm>
                    <a:off x="0" y="226367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nvGrpSpPr>
              <p:cNvPr id="343" name="Group 2446"/>
              <p:cNvGrpSpPr/>
              <p:nvPr/>
            </p:nvGrpSpPr>
            <p:grpSpPr>
              <a:xfrm>
                <a:off x="4548101" y="19808"/>
                <a:ext cx="1684340" cy="3772801"/>
                <a:chOff x="0" y="0"/>
                <a:chExt cx="1684338" cy="3772800"/>
              </a:xfrm>
            </p:grpSpPr>
            <p:grpSp>
              <p:nvGrpSpPr>
                <p:cNvPr id="307" name="Group 2201"/>
                <p:cNvGrpSpPr/>
                <p:nvPr/>
              </p:nvGrpSpPr>
              <p:grpSpPr>
                <a:xfrm>
                  <a:off x="-1" y="14"/>
                  <a:ext cx="1684340" cy="3772787"/>
                  <a:chOff x="0" y="0"/>
                  <a:chExt cx="1684338" cy="3772785"/>
                </a:xfrm>
              </p:grpSpPr>
              <p:sp>
                <p:nvSpPr>
                  <p:cNvPr id="301" name="Straight Connector 2202"/>
                  <p:cNvSpPr/>
                  <p:nvPr/>
                </p:nvSpPr>
                <p:spPr>
                  <a:xfrm>
                    <a:off x="-1" y="0"/>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02" name="Straight Connector 2203"/>
                  <p:cNvSpPr/>
                  <p:nvPr/>
                </p:nvSpPr>
                <p:spPr>
                  <a:xfrm flipV="1">
                    <a:off x="-1" y="0"/>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03" name="Straight Connector 2204"/>
                  <p:cNvSpPr/>
                  <p:nvPr/>
                </p:nvSpPr>
                <p:spPr>
                  <a:xfrm flipV="1">
                    <a:off x="-1" y="1"/>
                    <a:ext cx="1684339"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04" name="Straight Connector 2205"/>
                  <p:cNvSpPr/>
                  <p:nvPr/>
                </p:nvSpPr>
                <p:spPr>
                  <a:xfrm flipV="1">
                    <a:off x="-1" y="0"/>
                    <a:ext cx="1684340" cy="2263672"/>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05" name="Straight Connector 2206"/>
                  <p:cNvSpPr/>
                  <p:nvPr/>
                </p:nvSpPr>
                <p:spPr>
                  <a:xfrm flipV="1">
                    <a:off x="-1" y="0"/>
                    <a:ext cx="1684339"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06" name="Straight Connector 2207"/>
                  <p:cNvSpPr/>
                  <p:nvPr/>
                </p:nvSpPr>
                <p:spPr>
                  <a:xfrm flipV="1">
                    <a:off x="-1" y="1"/>
                    <a:ext cx="1684340" cy="377278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14" name="Group 2208"/>
                <p:cNvGrpSpPr/>
                <p:nvPr/>
              </p:nvGrpSpPr>
              <p:grpSpPr>
                <a:xfrm>
                  <a:off x="-1" y="14"/>
                  <a:ext cx="1684340" cy="3772786"/>
                  <a:chOff x="0" y="0"/>
                  <a:chExt cx="1684338" cy="3772785"/>
                </a:xfrm>
              </p:grpSpPr>
              <p:sp>
                <p:nvSpPr>
                  <p:cNvPr id="308" name="Straight Connector 2209"/>
                  <p:cNvSpPr/>
                  <p:nvPr/>
                </p:nvSpPr>
                <p:spPr>
                  <a:xfrm>
                    <a:off x="-1" y="0"/>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09" name="Straight Connector 2210"/>
                  <p:cNvSpPr/>
                  <p:nvPr/>
                </p:nvSpPr>
                <p:spPr>
                  <a:xfrm>
                    <a:off x="-1" y="754556"/>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0" name="Straight Connector 2211"/>
                  <p:cNvSpPr/>
                  <p:nvPr/>
                </p:nvSpPr>
                <p:spPr>
                  <a:xfrm flipV="1">
                    <a:off x="-1" y="754557"/>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1" name="Straight Connector 2212"/>
                  <p:cNvSpPr/>
                  <p:nvPr/>
                </p:nvSpPr>
                <p:spPr>
                  <a:xfrm flipV="1">
                    <a:off x="-1" y="754557"/>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2" name="Straight Connector 2213"/>
                  <p:cNvSpPr/>
                  <p:nvPr/>
                </p:nvSpPr>
                <p:spPr>
                  <a:xfrm flipV="1">
                    <a:off x="-1" y="754556"/>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3" name="Straight Connector 2214"/>
                  <p:cNvSpPr/>
                  <p:nvPr/>
                </p:nvSpPr>
                <p:spPr>
                  <a:xfrm flipV="1">
                    <a:off x="-1" y="754557"/>
                    <a:ext cx="1684339"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21" name="Group 2215"/>
                <p:cNvGrpSpPr/>
                <p:nvPr/>
              </p:nvGrpSpPr>
              <p:grpSpPr>
                <a:xfrm>
                  <a:off x="-1" y="14"/>
                  <a:ext cx="1684340" cy="3772787"/>
                  <a:chOff x="0" y="0"/>
                  <a:chExt cx="1684338" cy="3772785"/>
                </a:xfrm>
              </p:grpSpPr>
              <p:sp>
                <p:nvSpPr>
                  <p:cNvPr id="315" name="Straight Connector 2216"/>
                  <p:cNvSpPr/>
                  <p:nvPr/>
                </p:nvSpPr>
                <p:spPr>
                  <a:xfrm>
                    <a:off x="-1" y="754557"/>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6" name="Straight Connector 2217"/>
                  <p:cNvSpPr/>
                  <p:nvPr/>
                </p:nvSpPr>
                <p:spPr>
                  <a:xfrm>
                    <a:off x="-1" y="1509113"/>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7" name="Straight Connector 2218"/>
                  <p:cNvSpPr/>
                  <p:nvPr/>
                </p:nvSpPr>
                <p:spPr>
                  <a:xfrm flipV="1">
                    <a:off x="-1" y="1509114"/>
                    <a:ext cx="1684339"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8" name="Straight Connector 2219"/>
                  <p:cNvSpPr/>
                  <p:nvPr/>
                </p:nvSpPr>
                <p:spPr>
                  <a:xfrm flipV="1">
                    <a:off x="-1" y="1509114"/>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19" name="Straight Connector 2220"/>
                  <p:cNvSpPr/>
                  <p:nvPr/>
                </p:nvSpPr>
                <p:spPr>
                  <a:xfrm flipV="1">
                    <a:off x="-1" y="1509113"/>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20" name="Straight Connector 2221"/>
                  <p:cNvSpPr/>
                  <p:nvPr/>
                </p:nvSpPr>
                <p:spPr>
                  <a:xfrm>
                    <a:off x="0" y="-1"/>
                    <a:ext cx="1684338"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28" name="Group 2222"/>
                <p:cNvGrpSpPr/>
                <p:nvPr/>
              </p:nvGrpSpPr>
              <p:grpSpPr>
                <a:xfrm>
                  <a:off x="-1" y="0"/>
                  <a:ext cx="1684340" cy="3772801"/>
                  <a:chOff x="0" y="0"/>
                  <a:chExt cx="1684338" cy="3772799"/>
                </a:xfrm>
              </p:grpSpPr>
              <p:sp>
                <p:nvSpPr>
                  <p:cNvPr id="322" name="Straight Connector 2223"/>
                  <p:cNvSpPr/>
                  <p:nvPr/>
                </p:nvSpPr>
                <p:spPr>
                  <a:xfrm>
                    <a:off x="-1" y="1509113"/>
                    <a:ext cx="1684340" cy="7545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23" name="Straight Connector 2224"/>
                  <p:cNvSpPr/>
                  <p:nvPr/>
                </p:nvSpPr>
                <p:spPr>
                  <a:xfrm>
                    <a:off x="-1" y="2263686"/>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24" name="Straight Connector 2225"/>
                  <p:cNvSpPr/>
                  <p:nvPr/>
                </p:nvSpPr>
                <p:spPr>
                  <a:xfrm flipV="1">
                    <a:off x="-1" y="2263687"/>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25" name="Straight Connector 2226"/>
                  <p:cNvSpPr/>
                  <p:nvPr/>
                </p:nvSpPr>
                <p:spPr>
                  <a:xfrm flipV="1">
                    <a:off x="-1" y="2263688"/>
                    <a:ext cx="1684339"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26" name="Straight Connector 2227"/>
                  <p:cNvSpPr/>
                  <p:nvPr/>
                </p:nvSpPr>
                <p:spPr>
                  <a:xfrm>
                    <a:off x="-1" y="0"/>
                    <a:ext cx="1684340" cy="226368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27" name="Straight Connector 2228"/>
                  <p:cNvSpPr/>
                  <p:nvPr/>
                </p:nvSpPr>
                <p:spPr>
                  <a:xfrm>
                    <a:off x="0" y="754556"/>
                    <a:ext cx="1684338"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35" name="Group 2229"/>
                <p:cNvGrpSpPr/>
                <p:nvPr/>
              </p:nvGrpSpPr>
              <p:grpSpPr>
                <a:xfrm>
                  <a:off x="-1" y="-1"/>
                  <a:ext cx="1684340" cy="3772801"/>
                  <a:chOff x="0" y="0"/>
                  <a:chExt cx="1684338" cy="3772799"/>
                </a:xfrm>
              </p:grpSpPr>
              <p:sp>
                <p:nvSpPr>
                  <p:cNvPr id="329" name="Straight Connector 2230"/>
                  <p:cNvSpPr/>
                  <p:nvPr/>
                </p:nvSpPr>
                <p:spPr>
                  <a:xfrm>
                    <a:off x="-1" y="2263672"/>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0" name="Straight Connector 2231"/>
                  <p:cNvSpPr/>
                  <p:nvPr/>
                </p:nvSpPr>
                <p:spPr>
                  <a:xfrm>
                    <a:off x="-1" y="3018228"/>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1" name="Straight Connector 2232"/>
                  <p:cNvSpPr/>
                  <p:nvPr/>
                </p:nvSpPr>
                <p:spPr>
                  <a:xfrm flipV="1">
                    <a:off x="-1" y="3018229"/>
                    <a:ext cx="1684340" cy="7545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2" name="Straight Connector 2233"/>
                  <p:cNvSpPr/>
                  <p:nvPr/>
                </p:nvSpPr>
                <p:spPr>
                  <a:xfrm>
                    <a:off x="-1" y="0"/>
                    <a:ext cx="1684340" cy="301822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3" name="Straight Connector 2234"/>
                  <p:cNvSpPr/>
                  <p:nvPr/>
                </p:nvSpPr>
                <p:spPr>
                  <a:xfrm>
                    <a:off x="0" y="754556"/>
                    <a:ext cx="1684338"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4" name="Straight Connector 2235"/>
                  <p:cNvSpPr/>
                  <p:nvPr/>
                </p:nvSpPr>
                <p:spPr>
                  <a:xfrm>
                    <a:off x="-1" y="1509113"/>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42" name="Group 2236"/>
                <p:cNvGrpSpPr/>
                <p:nvPr/>
              </p:nvGrpSpPr>
              <p:grpSpPr>
                <a:xfrm>
                  <a:off x="-1" y="-1"/>
                  <a:ext cx="1684340" cy="3772787"/>
                  <a:chOff x="0" y="0"/>
                  <a:chExt cx="1684338" cy="3772785"/>
                </a:xfrm>
              </p:grpSpPr>
              <p:sp>
                <p:nvSpPr>
                  <p:cNvPr id="336" name="Straight Connector 2237"/>
                  <p:cNvSpPr/>
                  <p:nvPr/>
                </p:nvSpPr>
                <p:spPr>
                  <a:xfrm>
                    <a:off x="-1" y="3018228"/>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7" name="Straight Connector 2238"/>
                  <p:cNvSpPr/>
                  <p:nvPr/>
                </p:nvSpPr>
                <p:spPr>
                  <a:xfrm>
                    <a:off x="-1" y="3772785"/>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8" name="Straight Connector 2239"/>
                  <p:cNvSpPr/>
                  <p:nvPr/>
                </p:nvSpPr>
                <p:spPr>
                  <a:xfrm>
                    <a:off x="-1" y="0"/>
                    <a:ext cx="1684340" cy="377278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39" name="Straight Connector 2240"/>
                  <p:cNvSpPr/>
                  <p:nvPr/>
                </p:nvSpPr>
                <p:spPr>
                  <a:xfrm>
                    <a:off x="-1" y="754556"/>
                    <a:ext cx="1684340"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40" name="Straight Connector 2241"/>
                  <p:cNvSpPr/>
                  <p:nvPr/>
                </p:nvSpPr>
                <p:spPr>
                  <a:xfrm>
                    <a:off x="0" y="1509113"/>
                    <a:ext cx="1684338"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41" name="Straight Connector 2242"/>
                  <p:cNvSpPr/>
                  <p:nvPr/>
                </p:nvSpPr>
                <p:spPr>
                  <a:xfrm>
                    <a:off x="0" y="2263671"/>
                    <a:ext cx="1684338"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sp>
          <p:nvSpPr>
            <p:cNvPr id="345" name="Straight Connector 2375"/>
            <p:cNvSpPr/>
            <p:nvPr/>
          </p:nvSpPr>
          <p:spPr>
            <a:xfrm flipH="1" flipV="1">
              <a:off x="6816676" y="19808"/>
              <a:ext cx="1675737" cy="115852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46" name="Straight Connector 2376"/>
            <p:cNvSpPr/>
            <p:nvPr/>
          </p:nvSpPr>
          <p:spPr>
            <a:xfrm flipH="1" flipV="1">
              <a:off x="6816676" y="19808"/>
              <a:ext cx="1675737" cy="191309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47" name="Straight Connector 2377"/>
            <p:cNvSpPr/>
            <p:nvPr/>
          </p:nvSpPr>
          <p:spPr>
            <a:xfrm flipH="1" flipV="1">
              <a:off x="6816676" y="19808"/>
              <a:ext cx="1675736" cy="266765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48" name="Straight Connector 2366"/>
            <p:cNvSpPr/>
            <p:nvPr/>
          </p:nvSpPr>
          <p:spPr>
            <a:xfrm flipH="1" flipV="1">
              <a:off x="6816676" y="774366"/>
              <a:ext cx="1675737" cy="40396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49" name="Straight Connector 2367"/>
            <p:cNvSpPr/>
            <p:nvPr/>
          </p:nvSpPr>
          <p:spPr>
            <a:xfrm flipH="1" flipV="1">
              <a:off x="6816676" y="774366"/>
              <a:ext cx="1675737" cy="191309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0" name="Straight Connector 2368"/>
            <p:cNvSpPr/>
            <p:nvPr/>
          </p:nvSpPr>
          <p:spPr>
            <a:xfrm flipH="1" flipV="1">
              <a:off x="6816676" y="774366"/>
              <a:ext cx="1675737" cy="115853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1" name="Straight Connector 2357"/>
            <p:cNvSpPr/>
            <p:nvPr/>
          </p:nvSpPr>
          <p:spPr>
            <a:xfrm flipH="1">
              <a:off x="6816676" y="1178330"/>
              <a:ext cx="1675737" cy="35059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2" name="Straight Connector 2358"/>
            <p:cNvSpPr/>
            <p:nvPr/>
          </p:nvSpPr>
          <p:spPr>
            <a:xfrm flipH="1" flipV="1">
              <a:off x="6816675" y="1528922"/>
              <a:ext cx="1675737" cy="40398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3" name="Straight Connector 2359"/>
            <p:cNvSpPr/>
            <p:nvPr/>
          </p:nvSpPr>
          <p:spPr>
            <a:xfrm flipH="1" flipV="1">
              <a:off x="6816676" y="1528921"/>
              <a:ext cx="1675737" cy="1158540"/>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4" name="Straight Connector 2341"/>
            <p:cNvSpPr/>
            <p:nvPr/>
          </p:nvSpPr>
          <p:spPr>
            <a:xfrm flipH="1">
              <a:off x="6816676" y="2687460"/>
              <a:ext cx="1675737" cy="35057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5" name="Straight Connector 2347"/>
            <p:cNvSpPr/>
            <p:nvPr/>
          </p:nvSpPr>
          <p:spPr>
            <a:xfrm flipH="1">
              <a:off x="6816676" y="1178329"/>
              <a:ext cx="1675737" cy="1859710"/>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6" name="Straight Connector 2348"/>
            <p:cNvSpPr/>
            <p:nvPr/>
          </p:nvSpPr>
          <p:spPr>
            <a:xfrm flipH="1">
              <a:off x="6816676" y="1932902"/>
              <a:ext cx="1675737" cy="110513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7" name="Straight Connector 2338"/>
            <p:cNvSpPr/>
            <p:nvPr/>
          </p:nvSpPr>
          <p:spPr>
            <a:xfrm flipH="1">
              <a:off x="6816676" y="1178330"/>
              <a:ext cx="1675737" cy="261426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8" name="Straight Connector 2339"/>
            <p:cNvSpPr/>
            <p:nvPr/>
          </p:nvSpPr>
          <p:spPr>
            <a:xfrm flipH="1">
              <a:off x="6816675" y="1932902"/>
              <a:ext cx="1675738" cy="185969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59" name="Straight Connector 2340"/>
            <p:cNvSpPr/>
            <p:nvPr/>
          </p:nvSpPr>
          <p:spPr>
            <a:xfrm flipH="1">
              <a:off x="6816676" y="2687460"/>
              <a:ext cx="1675737" cy="110513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sp>
        <p:nvSpPr>
          <p:cNvPr id="361" name="TextBox 165"/>
          <p:cNvSpPr txBox="1"/>
          <p:nvPr/>
        </p:nvSpPr>
        <p:spPr>
          <a:xfrm>
            <a:off x="18998503" y="4789008"/>
            <a:ext cx="4497980" cy="31292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Actions</a:t>
            </a:r>
          </a:p>
          <a:p>
            <a:pPr defTabSz="1828800">
              <a:lnSpc>
                <a:spcPct val="100000"/>
              </a:lnSpc>
              <a:spcBef>
                <a:spcPts val="0"/>
              </a:spcBef>
              <a:defRPr>
                <a:latin typeface="Aptos"/>
                <a:ea typeface="Aptos"/>
                <a:cs typeface="Aptos"/>
                <a:sym typeface="Aptos"/>
              </a:defRPr>
            </a:pPr>
            <a:r>
              <a:t>0.) Do nothing</a:t>
            </a:r>
          </a:p>
          <a:p>
            <a:pPr defTabSz="1828800">
              <a:lnSpc>
                <a:spcPct val="100000"/>
              </a:lnSpc>
              <a:spcBef>
                <a:spcPts val="0"/>
              </a:spcBef>
              <a:defRPr>
                <a:latin typeface="Aptos"/>
                <a:ea typeface="Aptos"/>
                <a:cs typeface="Aptos"/>
                <a:sym typeface="Aptos"/>
              </a:defRPr>
            </a:pPr>
            <a:r>
              <a:t>1.) Move left</a:t>
            </a:r>
          </a:p>
          <a:p>
            <a:pPr defTabSz="1828800">
              <a:lnSpc>
                <a:spcPct val="100000"/>
              </a:lnSpc>
              <a:spcBef>
                <a:spcPts val="0"/>
              </a:spcBef>
              <a:defRPr>
                <a:latin typeface="Aptos"/>
                <a:ea typeface="Aptos"/>
                <a:cs typeface="Aptos"/>
                <a:sym typeface="Aptos"/>
              </a:defRPr>
            </a:pPr>
            <a:r>
              <a:t>2.) Move right</a:t>
            </a:r>
          </a:p>
        </p:txBody>
      </p:sp>
      <p:sp>
        <p:nvSpPr>
          <p:cNvPr id="362" name="TextBox 166"/>
          <p:cNvSpPr txBox="1"/>
          <p:nvPr/>
        </p:nvSpPr>
        <p:spPr>
          <a:xfrm>
            <a:off x="1252155" y="4419675"/>
            <a:ext cx="4497980" cy="38658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State variables</a:t>
            </a:r>
          </a:p>
          <a:p>
            <a:pPr defTabSz="1828800">
              <a:lnSpc>
                <a:spcPct val="100000"/>
              </a:lnSpc>
              <a:spcBef>
                <a:spcPts val="0"/>
              </a:spcBef>
              <a:defRPr>
                <a:latin typeface="Aptos"/>
                <a:ea typeface="Aptos"/>
                <a:cs typeface="Aptos"/>
                <a:sym typeface="Aptos"/>
              </a:defRPr>
            </a:pPr>
            <a:r>
              <a:t>1.) Cart position</a:t>
            </a:r>
          </a:p>
          <a:p>
            <a:pPr defTabSz="1828800">
              <a:lnSpc>
                <a:spcPct val="100000"/>
              </a:lnSpc>
              <a:spcBef>
                <a:spcPts val="0"/>
              </a:spcBef>
              <a:defRPr>
                <a:latin typeface="Aptos"/>
                <a:ea typeface="Aptos"/>
                <a:cs typeface="Aptos"/>
                <a:sym typeface="Aptos"/>
              </a:defRPr>
            </a:pPr>
            <a:r>
              <a:t>2.) Cart velocity</a:t>
            </a:r>
          </a:p>
          <a:p>
            <a:pPr defTabSz="1828800">
              <a:lnSpc>
                <a:spcPct val="100000"/>
              </a:lnSpc>
              <a:spcBef>
                <a:spcPts val="0"/>
              </a:spcBef>
              <a:defRPr>
                <a:latin typeface="Aptos"/>
                <a:ea typeface="Aptos"/>
                <a:cs typeface="Aptos"/>
                <a:sym typeface="Aptos"/>
              </a:defRPr>
            </a:pPr>
            <a:r>
              <a:t>3.) Pole Angle</a:t>
            </a:r>
          </a:p>
          <a:p>
            <a:pPr defTabSz="1828800">
              <a:lnSpc>
                <a:spcPct val="100000"/>
              </a:lnSpc>
              <a:spcBef>
                <a:spcPts val="0"/>
              </a:spcBef>
              <a:defRPr>
                <a:latin typeface="Aptos"/>
                <a:ea typeface="Aptos"/>
                <a:cs typeface="Aptos"/>
                <a:sym typeface="Aptos"/>
              </a:defRPr>
            </a:pPr>
            <a:r>
              <a:t>4.) Pole velocity</a:t>
            </a:r>
          </a:p>
        </p:txBody>
      </p:sp>
      <p:sp>
        <p:nvSpPr>
          <p:cNvPr id="363" name="TextBox 167"/>
          <p:cNvSpPr txBox="1"/>
          <p:nvPr/>
        </p:nvSpPr>
        <p:spPr>
          <a:xfrm>
            <a:off x="8769204" y="10776856"/>
            <a:ext cx="7210213" cy="12750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lgn="ctr" defTabSz="1828800">
              <a:lnSpc>
                <a:spcPct val="100000"/>
              </a:lnSpc>
              <a:spcBef>
                <a:spcPts val="0"/>
              </a:spcBef>
              <a:defRPr sz="3600">
                <a:latin typeface="Aptos"/>
                <a:ea typeface="Aptos"/>
                <a:cs typeface="Aptos"/>
                <a:sym typeface="Aptos"/>
              </a:defRPr>
            </a:pPr>
            <a:r>
              <a:t>We use a deep neural network to approximate </a:t>
            </a:r>
            <a:r>
              <a:rPr b="1"/>
              <a:t>this Q-function</a:t>
            </a:r>
          </a:p>
        </p:txBody>
      </p:sp>
      <p:sp>
        <p:nvSpPr>
          <p:cNvPr id="364" name="Line"/>
          <p:cNvSpPr/>
          <p:nvPr/>
        </p:nvSpPr>
        <p:spPr>
          <a:xfrm>
            <a:off x="17442793" y="3941884"/>
            <a:ext cx="1" cy="1275081"/>
          </a:xfrm>
          <a:prstGeom prst="line">
            <a:avLst/>
          </a:prstGeom>
          <a:ln w="63500">
            <a:solidFill>
              <a:srgbClr val="000000"/>
            </a:solidFill>
            <a:miter lim="400000"/>
            <a:tailEnd type="triangle"/>
          </a:ln>
        </p:spPr>
        <p:txBody>
          <a:bodyPr lIns="50800" tIns="50800" rIns="50800" bIns="50800" anchor="ctr"/>
          <a:lstStyle/>
          <a:p>
            <a:pPr/>
          </a:p>
        </p:txBody>
      </p:sp>
      <p:sp>
        <p:nvSpPr>
          <p:cNvPr id="365" name="output is learned Q-value for each action in this state"/>
          <p:cNvSpPr txBox="1"/>
          <p:nvPr/>
        </p:nvSpPr>
        <p:spPr>
          <a:xfrm>
            <a:off x="14292671" y="2252665"/>
            <a:ext cx="7795893" cy="14616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output is learned Q-value for each action in this state</a:t>
            </a:r>
          </a:p>
        </p:txBody>
      </p:sp>
      <p:sp>
        <p:nvSpPr>
          <p:cNvPr id="366" name="Line"/>
          <p:cNvSpPr/>
          <p:nvPr/>
        </p:nvSpPr>
        <p:spPr>
          <a:xfrm>
            <a:off x="7695459" y="3601120"/>
            <a:ext cx="1" cy="1656606"/>
          </a:xfrm>
          <a:prstGeom prst="line">
            <a:avLst/>
          </a:prstGeom>
          <a:ln w="63500">
            <a:solidFill>
              <a:srgbClr val="000000"/>
            </a:solidFill>
            <a:miter lim="400000"/>
            <a:tailEnd type="triangle"/>
          </a:ln>
        </p:spPr>
        <p:txBody>
          <a:bodyPr lIns="50800" tIns="50800" rIns="50800" bIns="50800" anchor="ctr"/>
          <a:lstStyle/>
          <a:p>
            <a:pPr/>
          </a:p>
        </p:txBody>
      </p:sp>
      <p:sp>
        <p:nvSpPr>
          <p:cNvPr id="367" name="input is 4D state"/>
          <p:cNvSpPr txBox="1"/>
          <p:nvPr/>
        </p:nvSpPr>
        <p:spPr>
          <a:xfrm>
            <a:off x="4545337" y="2620035"/>
            <a:ext cx="7073728" cy="8084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a:lstStyle>
          <a:p>
            <a:pPr/>
            <a:r>
              <a:t>input is 4D state</a:t>
            </a:r>
          </a:p>
        </p:txBody>
      </p:sp>
      <p:sp>
        <p:nvSpPr>
          <p:cNvPr id="368" name="Slide Number"/>
          <p:cNvSpPr txBox="1"/>
          <p:nvPr>
            <p:ph type="sldNum" sz="quarter" idx="2"/>
          </p:nvPr>
        </p:nvSpPr>
        <p:spPr>
          <a:xfrm>
            <a:off x="22342504" y="12802235"/>
            <a:ext cx="365096"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
        <p:nvSpPr>
          <p:cNvPr id="369" name="Continuous state space, discrete action space"/>
          <p:cNvSpPr txBox="1"/>
          <p:nvPr>
            <p:ph type="title" idx="4294967295"/>
          </p:nvPr>
        </p:nvSpPr>
        <p:spPr>
          <a:xfrm>
            <a:off x="1055582" y="432709"/>
            <a:ext cx="21971001" cy="1434950"/>
          </a:xfrm>
          <a:prstGeom prst="rect">
            <a:avLst/>
          </a:prstGeom>
        </p:spPr>
        <p:txBody>
          <a:bodyPr lIns="91439" tIns="91439" rIns="91439" bIns="91439" anchor="ctr"/>
          <a:lstStyle>
            <a:lvl1pPr defTabSz="1700783">
              <a:lnSpc>
                <a:spcPct val="90000"/>
              </a:lnSpc>
              <a:defRPr b="0" spc="0" sz="8184">
                <a:latin typeface="Aptos Display"/>
                <a:ea typeface="Aptos Display"/>
                <a:cs typeface="Aptos Display"/>
                <a:sym typeface="Aptos Display"/>
              </a:defRPr>
            </a:lvl1pPr>
          </a:lstStyle>
          <a:p>
            <a:pPr/>
            <a:r>
              <a:t>Continuous state space, discrete action space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06" name="Group 1"/>
          <p:cNvGrpSpPr/>
          <p:nvPr/>
        </p:nvGrpSpPr>
        <p:grpSpPr>
          <a:xfrm>
            <a:off x="8128113" y="4665691"/>
            <a:ext cx="8492414" cy="3819281"/>
            <a:chOff x="0" y="0"/>
            <a:chExt cx="8492412" cy="3819279"/>
          </a:xfrm>
        </p:grpSpPr>
        <p:grpSp>
          <p:nvGrpSpPr>
            <p:cNvPr id="490" name="Group 5"/>
            <p:cNvGrpSpPr/>
            <p:nvPr/>
          </p:nvGrpSpPr>
          <p:grpSpPr>
            <a:xfrm>
              <a:off x="-1" y="-1"/>
              <a:ext cx="6232442" cy="3819281"/>
              <a:chOff x="0" y="0"/>
              <a:chExt cx="6232440" cy="3819279"/>
            </a:xfrm>
          </p:grpSpPr>
          <p:grpSp>
            <p:nvGrpSpPr>
              <p:cNvPr id="403" name="Group 2325"/>
              <p:cNvGrpSpPr/>
              <p:nvPr/>
            </p:nvGrpSpPr>
            <p:grpSpPr>
              <a:xfrm>
                <a:off x="-1" y="46496"/>
                <a:ext cx="1684342" cy="3772784"/>
                <a:chOff x="0" y="0"/>
                <a:chExt cx="1684340" cy="3772783"/>
              </a:xfrm>
            </p:grpSpPr>
            <p:grpSp>
              <p:nvGrpSpPr>
                <p:cNvPr id="377" name="Group 2079"/>
                <p:cNvGrpSpPr/>
                <p:nvPr/>
              </p:nvGrpSpPr>
              <p:grpSpPr>
                <a:xfrm>
                  <a:off x="-1" y="-1"/>
                  <a:ext cx="1684342" cy="3018243"/>
                  <a:chOff x="0" y="0"/>
                  <a:chExt cx="1684340" cy="3018241"/>
                </a:xfrm>
              </p:grpSpPr>
              <p:sp>
                <p:nvSpPr>
                  <p:cNvPr id="373" name="Straight Connector 2060"/>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74" name="Straight Connector 2064"/>
                  <p:cNvSpPr/>
                  <p:nvPr/>
                </p:nvSpPr>
                <p:spPr>
                  <a:xfrm flipV="1">
                    <a:off x="-1" y="1"/>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75" name="Straight Connector 2067"/>
                  <p:cNvSpPr/>
                  <p:nvPr/>
                </p:nvSpPr>
                <p:spPr>
                  <a:xfrm flipV="1">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76" name="Straight Connector 2070"/>
                  <p:cNvSpPr/>
                  <p:nvPr/>
                </p:nvSpPr>
                <p:spPr>
                  <a:xfrm flipV="1">
                    <a:off x="-1" y="-1"/>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82" name="Group 2080"/>
                <p:cNvGrpSpPr/>
                <p:nvPr/>
              </p:nvGrpSpPr>
              <p:grpSpPr>
                <a:xfrm>
                  <a:off x="-1" y="754556"/>
                  <a:ext cx="1684342" cy="2263672"/>
                  <a:chOff x="0" y="0"/>
                  <a:chExt cx="1684340" cy="2263670"/>
                </a:xfrm>
              </p:grpSpPr>
              <p:sp>
                <p:nvSpPr>
                  <p:cNvPr id="378" name="Straight Connector 2082"/>
                  <p:cNvSpPr/>
                  <p:nvPr/>
                </p:nvSpPr>
                <p:spPr>
                  <a:xfrm>
                    <a:off x="-1" y="0"/>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79" name="Straight Connector 2083"/>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80" name="Straight Connector 2084"/>
                  <p:cNvSpPr/>
                  <p:nvPr/>
                </p:nvSpPr>
                <p:spPr>
                  <a:xfrm flipV="1">
                    <a:off x="-1" y="1"/>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81" name="Straight Connector 2085"/>
                  <p:cNvSpPr/>
                  <p:nvPr/>
                </p:nvSpPr>
                <p:spPr>
                  <a:xfrm flipV="1">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87" name="Group 2092"/>
                <p:cNvGrpSpPr/>
                <p:nvPr/>
              </p:nvGrpSpPr>
              <p:grpSpPr>
                <a:xfrm>
                  <a:off x="-1" y="754557"/>
                  <a:ext cx="1684342" cy="2263671"/>
                  <a:chOff x="0" y="0"/>
                  <a:chExt cx="1684340" cy="2263670"/>
                </a:xfrm>
              </p:grpSpPr>
              <p:sp>
                <p:nvSpPr>
                  <p:cNvPr id="383" name="Straight Connector 2093"/>
                  <p:cNvSpPr/>
                  <p:nvPr/>
                </p:nvSpPr>
                <p:spPr>
                  <a:xfrm>
                    <a:off x="-1" y="0"/>
                    <a:ext cx="1684342"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84" name="Straight Connector 2094"/>
                  <p:cNvSpPr/>
                  <p:nvPr/>
                </p:nvSpPr>
                <p:spPr>
                  <a:xfrm>
                    <a:off x="-1" y="754556"/>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85" name="Straight Connector 2095"/>
                  <p:cNvSpPr/>
                  <p:nvPr/>
                </p:nvSpPr>
                <p:spPr>
                  <a:xfrm flipV="1">
                    <a:off x="-1" y="754557"/>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86" name="Straight Connector 2096"/>
                  <p:cNvSpPr/>
                  <p:nvPr/>
                </p:nvSpPr>
                <p:spPr>
                  <a:xfrm flipV="1">
                    <a:off x="-1" y="754558"/>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92" name="Group 2102"/>
                <p:cNvGrpSpPr/>
                <p:nvPr/>
              </p:nvGrpSpPr>
              <p:grpSpPr>
                <a:xfrm>
                  <a:off x="-1" y="754556"/>
                  <a:ext cx="1684342" cy="2263672"/>
                  <a:chOff x="0" y="0"/>
                  <a:chExt cx="1684340" cy="2263670"/>
                </a:xfrm>
              </p:grpSpPr>
              <p:sp>
                <p:nvSpPr>
                  <p:cNvPr id="388" name="Straight Connector 2103"/>
                  <p:cNvSpPr/>
                  <p:nvPr/>
                </p:nvSpPr>
                <p:spPr>
                  <a:xfrm>
                    <a:off x="-1" y="754557"/>
                    <a:ext cx="1684342"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89" name="Straight Connector 2104"/>
                  <p:cNvSpPr/>
                  <p:nvPr/>
                </p:nvSpPr>
                <p:spPr>
                  <a:xfrm>
                    <a:off x="-1" y="1509113"/>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90" name="Straight Connector 2105"/>
                  <p:cNvSpPr/>
                  <p:nvPr/>
                </p:nvSpPr>
                <p:spPr>
                  <a:xfrm flipV="1">
                    <a:off x="-1" y="1509114"/>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91" name="Straight Connector 2110"/>
                  <p:cNvSpPr/>
                  <p:nvPr/>
                </p:nvSpPr>
                <p:spPr>
                  <a:xfrm>
                    <a:off x="0" y="-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397" name="Group 2113"/>
                <p:cNvGrpSpPr/>
                <p:nvPr/>
              </p:nvGrpSpPr>
              <p:grpSpPr>
                <a:xfrm>
                  <a:off x="-1" y="754556"/>
                  <a:ext cx="1684342" cy="2263672"/>
                  <a:chOff x="0" y="0"/>
                  <a:chExt cx="1684340" cy="2263670"/>
                </a:xfrm>
              </p:grpSpPr>
              <p:sp>
                <p:nvSpPr>
                  <p:cNvPr id="393" name="Straight Connector 2114"/>
                  <p:cNvSpPr/>
                  <p:nvPr/>
                </p:nvSpPr>
                <p:spPr>
                  <a:xfrm>
                    <a:off x="-1" y="1509113"/>
                    <a:ext cx="1684342"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94" name="Straight Connector 2115"/>
                  <p:cNvSpPr/>
                  <p:nvPr/>
                </p:nvSpPr>
                <p:spPr>
                  <a:xfrm>
                    <a:off x="-1" y="2263670"/>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95" name="Straight Connector 2120"/>
                  <p:cNvSpPr/>
                  <p:nvPr/>
                </p:nvSpPr>
                <p:spPr>
                  <a:xfrm>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96" name="Straight Connector 2121"/>
                  <p:cNvSpPr/>
                  <p:nvPr/>
                </p:nvSpPr>
                <p:spPr>
                  <a:xfrm>
                    <a:off x="0" y="754556"/>
                    <a:ext cx="1684340"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02" name="Group 2123"/>
                <p:cNvGrpSpPr/>
                <p:nvPr/>
              </p:nvGrpSpPr>
              <p:grpSpPr>
                <a:xfrm>
                  <a:off x="-1" y="754556"/>
                  <a:ext cx="1684342" cy="3018228"/>
                  <a:chOff x="0" y="0"/>
                  <a:chExt cx="1684340" cy="3018227"/>
                </a:xfrm>
              </p:grpSpPr>
              <p:sp>
                <p:nvSpPr>
                  <p:cNvPr id="398" name="Straight Connector 2124"/>
                  <p:cNvSpPr/>
                  <p:nvPr/>
                </p:nvSpPr>
                <p:spPr>
                  <a:xfrm>
                    <a:off x="-1" y="2263670"/>
                    <a:ext cx="1684342"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399" name="Straight Connector 2129"/>
                  <p:cNvSpPr/>
                  <p:nvPr/>
                </p:nvSpPr>
                <p:spPr>
                  <a:xfrm>
                    <a:off x="0" y="-1"/>
                    <a:ext cx="1684340" cy="301822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00" name="Straight Connector 2130"/>
                  <p:cNvSpPr/>
                  <p:nvPr/>
                </p:nvSpPr>
                <p:spPr>
                  <a:xfrm>
                    <a:off x="0" y="754556"/>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01" name="Straight Connector 2131"/>
                  <p:cNvSpPr/>
                  <p:nvPr/>
                </p:nvSpPr>
                <p:spPr>
                  <a:xfrm>
                    <a:off x="0" y="1509113"/>
                    <a:ext cx="1684340"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nvGrpSpPr>
              <p:cNvPr id="446" name="Group 2445"/>
              <p:cNvGrpSpPr/>
              <p:nvPr/>
            </p:nvGrpSpPr>
            <p:grpSpPr>
              <a:xfrm>
                <a:off x="2279525" y="-1"/>
                <a:ext cx="1684342" cy="3772802"/>
                <a:chOff x="0" y="0"/>
                <a:chExt cx="1684340" cy="3772800"/>
              </a:xfrm>
            </p:grpSpPr>
            <p:grpSp>
              <p:nvGrpSpPr>
                <p:cNvPr id="410" name="Group 2133"/>
                <p:cNvGrpSpPr/>
                <p:nvPr/>
              </p:nvGrpSpPr>
              <p:grpSpPr>
                <a:xfrm>
                  <a:off x="-1" y="-1"/>
                  <a:ext cx="1684342" cy="3772802"/>
                  <a:chOff x="0" y="0"/>
                  <a:chExt cx="1684340" cy="3772800"/>
                </a:xfrm>
              </p:grpSpPr>
              <p:sp>
                <p:nvSpPr>
                  <p:cNvPr id="404" name="Straight Connector 2135"/>
                  <p:cNvSpPr/>
                  <p:nvPr/>
                </p:nvSpPr>
                <p:spPr>
                  <a:xfrm>
                    <a:off x="-1" y="-1"/>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05" name="Straight Connector 2136"/>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06" name="Straight Connector 2137"/>
                  <p:cNvSpPr/>
                  <p:nvPr/>
                </p:nvSpPr>
                <p:spPr>
                  <a:xfrm flipV="1">
                    <a:off x="-1" y="1"/>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07" name="Straight Connector 2138"/>
                  <p:cNvSpPr/>
                  <p:nvPr/>
                </p:nvSpPr>
                <p:spPr>
                  <a:xfrm flipV="1">
                    <a:off x="0" y="0"/>
                    <a:ext cx="1684340" cy="226368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08" name="Straight Connector 2139"/>
                  <p:cNvSpPr/>
                  <p:nvPr/>
                </p:nvSpPr>
                <p:spPr>
                  <a:xfrm flipV="1">
                    <a:off x="-1" y="1"/>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09" name="Straight Connector 2140"/>
                  <p:cNvSpPr/>
                  <p:nvPr/>
                </p:nvSpPr>
                <p:spPr>
                  <a:xfrm flipV="1">
                    <a:off x="0" y="-1"/>
                    <a:ext cx="1684341" cy="3772802"/>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17" name="Group 2142"/>
                <p:cNvGrpSpPr/>
                <p:nvPr/>
              </p:nvGrpSpPr>
              <p:grpSpPr>
                <a:xfrm>
                  <a:off x="-1" y="-1"/>
                  <a:ext cx="1684341" cy="3772802"/>
                  <a:chOff x="0" y="0"/>
                  <a:chExt cx="1684340" cy="3772800"/>
                </a:xfrm>
              </p:grpSpPr>
              <p:sp>
                <p:nvSpPr>
                  <p:cNvPr id="411" name="Straight Connector 2143"/>
                  <p:cNvSpPr/>
                  <p:nvPr/>
                </p:nvSpPr>
                <p:spPr>
                  <a:xfrm>
                    <a:off x="0" y="-1"/>
                    <a:ext cx="1684340"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12" name="Straight Connector 2144"/>
                  <p:cNvSpPr/>
                  <p:nvPr/>
                </p:nvSpPr>
                <p:spPr>
                  <a:xfrm>
                    <a:off x="-1" y="754556"/>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13" name="Straight Connector 2145"/>
                  <p:cNvSpPr/>
                  <p:nvPr/>
                </p:nvSpPr>
                <p:spPr>
                  <a:xfrm flipV="1">
                    <a:off x="-1" y="754557"/>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14" name="Straight Connector 2146"/>
                  <p:cNvSpPr/>
                  <p:nvPr/>
                </p:nvSpPr>
                <p:spPr>
                  <a:xfrm flipV="1">
                    <a:off x="-1" y="754558"/>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15" name="Straight Connector 2147"/>
                  <p:cNvSpPr/>
                  <p:nvPr/>
                </p:nvSpPr>
                <p:spPr>
                  <a:xfrm flipV="1">
                    <a:off x="0" y="754557"/>
                    <a:ext cx="1684340" cy="226368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16" name="Straight Connector 2148"/>
                  <p:cNvSpPr/>
                  <p:nvPr/>
                </p:nvSpPr>
                <p:spPr>
                  <a:xfrm flipV="1">
                    <a:off x="-1" y="754558"/>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24" name="Group 2151"/>
                <p:cNvGrpSpPr/>
                <p:nvPr/>
              </p:nvGrpSpPr>
              <p:grpSpPr>
                <a:xfrm>
                  <a:off x="0" y="-1"/>
                  <a:ext cx="1684341" cy="3772802"/>
                  <a:chOff x="0" y="0"/>
                  <a:chExt cx="1684340" cy="3772800"/>
                </a:xfrm>
              </p:grpSpPr>
              <p:sp>
                <p:nvSpPr>
                  <p:cNvPr id="418" name="Straight Connector 2152"/>
                  <p:cNvSpPr/>
                  <p:nvPr/>
                </p:nvSpPr>
                <p:spPr>
                  <a:xfrm>
                    <a:off x="0" y="754556"/>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19" name="Straight Connector 2153"/>
                  <p:cNvSpPr/>
                  <p:nvPr/>
                </p:nvSpPr>
                <p:spPr>
                  <a:xfrm>
                    <a:off x="-1" y="1509113"/>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0" name="Straight Connector 2154"/>
                  <p:cNvSpPr/>
                  <p:nvPr/>
                </p:nvSpPr>
                <p:spPr>
                  <a:xfrm flipV="1">
                    <a:off x="-1" y="1509113"/>
                    <a:ext cx="1684342" cy="75455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1" name="Straight Connector 2155"/>
                  <p:cNvSpPr/>
                  <p:nvPr/>
                </p:nvSpPr>
                <p:spPr>
                  <a:xfrm flipV="1">
                    <a:off x="-1" y="1509115"/>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2" name="Straight Connector 2156"/>
                  <p:cNvSpPr/>
                  <p:nvPr/>
                </p:nvSpPr>
                <p:spPr>
                  <a:xfrm flipV="1">
                    <a:off x="0" y="1509113"/>
                    <a:ext cx="1684340" cy="226368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3" name="Straight Connector 2159"/>
                  <p:cNvSpPr/>
                  <p:nvPr/>
                </p:nvSpPr>
                <p:spPr>
                  <a:xfrm>
                    <a:off x="0" y="-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31" name="Group 2160"/>
                <p:cNvGrpSpPr/>
                <p:nvPr/>
              </p:nvGrpSpPr>
              <p:grpSpPr>
                <a:xfrm>
                  <a:off x="-1" y="-1"/>
                  <a:ext cx="1684342" cy="3772787"/>
                  <a:chOff x="0" y="0"/>
                  <a:chExt cx="1684340" cy="3772785"/>
                </a:xfrm>
              </p:grpSpPr>
              <p:sp>
                <p:nvSpPr>
                  <p:cNvPr id="425" name="Straight Connector 2161"/>
                  <p:cNvSpPr/>
                  <p:nvPr/>
                </p:nvSpPr>
                <p:spPr>
                  <a:xfrm>
                    <a:off x="-1" y="1509113"/>
                    <a:ext cx="1684342" cy="75455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6" name="Straight Connector 2162"/>
                  <p:cNvSpPr/>
                  <p:nvPr/>
                </p:nvSpPr>
                <p:spPr>
                  <a:xfrm>
                    <a:off x="-1" y="2263671"/>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7" name="Straight Connector 2163"/>
                  <p:cNvSpPr/>
                  <p:nvPr/>
                </p:nvSpPr>
                <p:spPr>
                  <a:xfrm flipV="1">
                    <a:off x="-1" y="2263672"/>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8" name="Straight Connector 2164"/>
                  <p:cNvSpPr/>
                  <p:nvPr/>
                </p:nvSpPr>
                <p:spPr>
                  <a:xfrm flipV="1">
                    <a:off x="-1" y="2263673"/>
                    <a:ext cx="1684342"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29" name="Straight Connector 2167"/>
                  <p:cNvSpPr/>
                  <p:nvPr/>
                </p:nvSpPr>
                <p:spPr>
                  <a:xfrm>
                    <a:off x="0" y="-1"/>
                    <a:ext cx="1684340" cy="226367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30" name="Straight Connector 2168"/>
                  <p:cNvSpPr/>
                  <p:nvPr/>
                </p:nvSpPr>
                <p:spPr>
                  <a:xfrm>
                    <a:off x="0" y="754556"/>
                    <a:ext cx="1684340"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38" name="Group 2169"/>
                <p:cNvGrpSpPr/>
                <p:nvPr/>
              </p:nvGrpSpPr>
              <p:grpSpPr>
                <a:xfrm>
                  <a:off x="-1" y="0"/>
                  <a:ext cx="1684342" cy="3772786"/>
                  <a:chOff x="0" y="0"/>
                  <a:chExt cx="1684340" cy="3772785"/>
                </a:xfrm>
              </p:grpSpPr>
              <p:sp>
                <p:nvSpPr>
                  <p:cNvPr id="432" name="Straight Connector 2170"/>
                  <p:cNvSpPr/>
                  <p:nvPr/>
                </p:nvSpPr>
                <p:spPr>
                  <a:xfrm>
                    <a:off x="0" y="2263671"/>
                    <a:ext cx="1684340"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33" name="Straight Connector 2171"/>
                  <p:cNvSpPr/>
                  <p:nvPr/>
                </p:nvSpPr>
                <p:spPr>
                  <a:xfrm>
                    <a:off x="-1" y="3018228"/>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34" name="Straight Connector 2172"/>
                  <p:cNvSpPr/>
                  <p:nvPr/>
                </p:nvSpPr>
                <p:spPr>
                  <a:xfrm flipV="1">
                    <a:off x="-1" y="3018229"/>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35" name="Straight Connector 2175"/>
                  <p:cNvSpPr/>
                  <p:nvPr/>
                </p:nvSpPr>
                <p:spPr>
                  <a:xfrm>
                    <a:off x="-1" y="0"/>
                    <a:ext cx="1684342"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36" name="Straight Connector 2176"/>
                  <p:cNvSpPr/>
                  <p:nvPr/>
                </p:nvSpPr>
                <p:spPr>
                  <a:xfrm>
                    <a:off x="0" y="754556"/>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37" name="Straight Connector 2177"/>
                  <p:cNvSpPr/>
                  <p:nvPr/>
                </p:nvSpPr>
                <p:spPr>
                  <a:xfrm>
                    <a:off x="0" y="1509113"/>
                    <a:ext cx="1684340"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45" name="Group 2178"/>
                <p:cNvGrpSpPr/>
                <p:nvPr/>
              </p:nvGrpSpPr>
              <p:grpSpPr>
                <a:xfrm>
                  <a:off x="-1" y="0"/>
                  <a:ext cx="1684342" cy="3772786"/>
                  <a:chOff x="0" y="0"/>
                  <a:chExt cx="1684340" cy="3772785"/>
                </a:xfrm>
              </p:grpSpPr>
              <p:sp>
                <p:nvSpPr>
                  <p:cNvPr id="439" name="Straight Connector 2179"/>
                  <p:cNvSpPr/>
                  <p:nvPr/>
                </p:nvSpPr>
                <p:spPr>
                  <a:xfrm>
                    <a:off x="0" y="3018228"/>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40" name="Straight Connector 2180"/>
                  <p:cNvSpPr/>
                  <p:nvPr/>
                </p:nvSpPr>
                <p:spPr>
                  <a:xfrm>
                    <a:off x="-1" y="3772785"/>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41" name="Straight Connector 2183"/>
                  <p:cNvSpPr/>
                  <p:nvPr/>
                </p:nvSpPr>
                <p:spPr>
                  <a:xfrm>
                    <a:off x="-1" y="0"/>
                    <a:ext cx="1684342" cy="377278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42" name="Straight Connector 2184"/>
                  <p:cNvSpPr/>
                  <p:nvPr/>
                </p:nvSpPr>
                <p:spPr>
                  <a:xfrm>
                    <a:off x="-1" y="754556"/>
                    <a:ext cx="1684342"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43" name="Straight Connector 2185"/>
                  <p:cNvSpPr/>
                  <p:nvPr/>
                </p:nvSpPr>
                <p:spPr>
                  <a:xfrm>
                    <a:off x="0" y="1509113"/>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44" name="Straight Connector 2186"/>
                  <p:cNvSpPr/>
                  <p:nvPr/>
                </p:nvSpPr>
                <p:spPr>
                  <a:xfrm>
                    <a:off x="0" y="226367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nvGrpSpPr>
              <p:cNvPr id="489" name="Group 2446"/>
              <p:cNvGrpSpPr/>
              <p:nvPr/>
            </p:nvGrpSpPr>
            <p:grpSpPr>
              <a:xfrm>
                <a:off x="4548101" y="19808"/>
                <a:ext cx="1684340" cy="3772801"/>
                <a:chOff x="0" y="0"/>
                <a:chExt cx="1684338" cy="3772800"/>
              </a:xfrm>
            </p:grpSpPr>
            <p:grpSp>
              <p:nvGrpSpPr>
                <p:cNvPr id="453" name="Group 2201"/>
                <p:cNvGrpSpPr/>
                <p:nvPr/>
              </p:nvGrpSpPr>
              <p:grpSpPr>
                <a:xfrm>
                  <a:off x="-1" y="14"/>
                  <a:ext cx="1684340" cy="3772787"/>
                  <a:chOff x="0" y="0"/>
                  <a:chExt cx="1684338" cy="3772785"/>
                </a:xfrm>
              </p:grpSpPr>
              <p:sp>
                <p:nvSpPr>
                  <p:cNvPr id="447" name="Straight Connector 2202"/>
                  <p:cNvSpPr/>
                  <p:nvPr/>
                </p:nvSpPr>
                <p:spPr>
                  <a:xfrm>
                    <a:off x="-1" y="0"/>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48" name="Straight Connector 2203"/>
                  <p:cNvSpPr/>
                  <p:nvPr/>
                </p:nvSpPr>
                <p:spPr>
                  <a:xfrm flipV="1">
                    <a:off x="-1" y="0"/>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49" name="Straight Connector 2204"/>
                  <p:cNvSpPr/>
                  <p:nvPr/>
                </p:nvSpPr>
                <p:spPr>
                  <a:xfrm flipV="1">
                    <a:off x="-1" y="1"/>
                    <a:ext cx="1684339"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0" name="Straight Connector 2205"/>
                  <p:cNvSpPr/>
                  <p:nvPr/>
                </p:nvSpPr>
                <p:spPr>
                  <a:xfrm flipV="1">
                    <a:off x="-1" y="0"/>
                    <a:ext cx="1684340" cy="2263672"/>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1" name="Straight Connector 2206"/>
                  <p:cNvSpPr/>
                  <p:nvPr/>
                </p:nvSpPr>
                <p:spPr>
                  <a:xfrm flipV="1">
                    <a:off x="-1" y="0"/>
                    <a:ext cx="1684339"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2" name="Straight Connector 2207"/>
                  <p:cNvSpPr/>
                  <p:nvPr/>
                </p:nvSpPr>
                <p:spPr>
                  <a:xfrm flipV="1">
                    <a:off x="-1" y="1"/>
                    <a:ext cx="1684340" cy="377278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60" name="Group 2208"/>
                <p:cNvGrpSpPr/>
                <p:nvPr/>
              </p:nvGrpSpPr>
              <p:grpSpPr>
                <a:xfrm>
                  <a:off x="-1" y="14"/>
                  <a:ext cx="1684340" cy="3772786"/>
                  <a:chOff x="0" y="0"/>
                  <a:chExt cx="1684338" cy="3772785"/>
                </a:xfrm>
              </p:grpSpPr>
              <p:sp>
                <p:nvSpPr>
                  <p:cNvPr id="454" name="Straight Connector 2209"/>
                  <p:cNvSpPr/>
                  <p:nvPr/>
                </p:nvSpPr>
                <p:spPr>
                  <a:xfrm>
                    <a:off x="-1" y="0"/>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5" name="Straight Connector 2210"/>
                  <p:cNvSpPr/>
                  <p:nvPr/>
                </p:nvSpPr>
                <p:spPr>
                  <a:xfrm>
                    <a:off x="-1" y="754556"/>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6" name="Straight Connector 2211"/>
                  <p:cNvSpPr/>
                  <p:nvPr/>
                </p:nvSpPr>
                <p:spPr>
                  <a:xfrm flipV="1">
                    <a:off x="-1" y="754557"/>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7" name="Straight Connector 2212"/>
                  <p:cNvSpPr/>
                  <p:nvPr/>
                </p:nvSpPr>
                <p:spPr>
                  <a:xfrm flipV="1">
                    <a:off x="-1" y="754557"/>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8" name="Straight Connector 2213"/>
                  <p:cNvSpPr/>
                  <p:nvPr/>
                </p:nvSpPr>
                <p:spPr>
                  <a:xfrm flipV="1">
                    <a:off x="-1" y="754556"/>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59" name="Straight Connector 2214"/>
                  <p:cNvSpPr/>
                  <p:nvPr/>
                </p:nvSpPr>
                <p:spPr>
                  <a:xfrm flipV="1">
                    <a:off x="-1" y="754557"/>
                    <a:ext cx="1684339"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67" name="Group 2215"/>
                <p:cNvGrpSpPr/>
                <p:nvPr/>
              </p:nvGrpSpPr>
              <p:grpSpPr>
                <a:xfrm>
                  <a:off x="-1" y="14"/>
                  <a:ext cx="1684340" cy="3772787"/>
                  <a:chOff x="0" y="0"/>
                  <a:chExt cx="1684338" cy="3772785"/>
                </a:xfrm>
              </p:grpSpPr>
              <p:sp>
                <p:nvSpPr>
                  <p:cNvPr id="461" name="Straight Connector 2216"/>
                  <p:cNvSpPr/>
                  <p:nvPr/>
                </p:nvSpPr>
                <p:spPr>
                  <a:xfrm>
                    <a:off x="-1" y="754557"/>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62" name="Straight Connector 2217"/>
                  <p:cNvSpPr/>
                  <p:nvPr/>
                </p:nvSpPr>
                <p:spPr>
                  <a:xfrm>
                    <a:off x="-1" y="1509113"/>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63" name="Straight Connector 2218"/>
                  <p:cNvSpPr/>
                  <p:nvPr/>
                </p:nvSpPr>
                <p:spPr>
                  <a:xfrm flipV="1">
                    <a:off x="-1" y="1509114"/>
                    <a:ext cx="1684339"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64" name="Straight Connector 2219"/>
                  <p:cNvSpPr/>
                  <p:nvPr/>
                </p:nvSpPr>
                <p:spPr>
                  <a:xfrm flipV="1">
                    <a:off x="-1" y="1509114"/>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65" name="Straight Connector 2220"/>
                  <p:cNvSpPr/>
                  <p:nvPr/>
                </p:nvSpPr>
                <p:spPr>
                  <a:xfrm flipV="1">
                    <a:off x="-1" y="1509113"/>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66" name="Straight Connector 2221"/>
                  <p:cNvSpPr/>
                  <p:nvPr/>
                </p:nvSpPr>
                <p:spPr>
                  <a:xfrm>
                    <a:off x="0" y="-1"/>
                    <a:ext cx="1684338"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74" name="Group 2222"/>
                <p:cNvGrpSpPr/>
                <p:nvPr/>
              </p:nvGrpSpPr>
              <p:grpSpPr>
                <a:xfrm>
                  <a:off x="-1" y="0"/>
                  <a:ext cx="1684340" cy="3772801"/>
                  <a:chOff x="0" y="0"/>
                  <a:chExt cx="1684338" cy="3772799"/>
                </a:xfrm>
              </p:grpSpPr>
              <p:sp>
                <p:nvSpPr>
                  <p:cNvPr id="468" name="Straight Connector 2223"/>
                  <p:cNvSpPr/>
                  <p:nvPr/>
                </p:nvSpPr>
                <p:spPr>
                  <a:xfrm>
                    <a:off x="-1" y="1509113"/>
                    <a:ext cx="1684340" cy="7545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69" name="Straight Connector 2224"/>
                  <p:cNvSpPr/>
                  <p:nvPr/>
                </p:nvSpPr>
                <p:spPr>
                  <a:xfrm>
                    <a:off x="-1" y="2263686"/>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0" name="Straight Connector 2225"/>
                  <p:cNvSpPr/>
                  <p:nvPr/>
                </p:nvSpPr>
                <p:spPr>
                  <a:xfrm flipV="1">
                    <a:off x="-1" y="2263687"/>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1" name="Straight Connector 2226"/>
                  <p:cNvSpPr/>
                  <p:nvPr/>
                </p:nvSpPr>
                <p:spPr>
                  <a:xfrm flipV="1">
                    <a:off x="-1" y="2263688"/>
                    <a:ext cx="1684339"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2" name="Straight Connector 2227"/>
                  <p:cNvSpPr/>
                  <p:nvPr/>
                </p:nvSpPr>
                <p:spPr>
                  <a:xfrm>
                    <a:off x="-1" y="0"/>
                    <a:ext cx="1684340" cy="226368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3" name="Straight Connector 2228"/>
                  <p:cNvSpPr/>
                  <p:nvPr/>
                </p:nvSpPr>
                <p:spPr>
                  <a:xfrm>
                    <a:off x="0" y="754556"/>
                    <a:ext cx="1684338"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81" name="Group 2229"/>
                <p:cNvGrpSpPr/>
                <p:nvPr/>
              </p:nvGrpSpPr>
              <p:grpSpPr>
                <a:xfrm>
                  <a:off x="-1" y="-1"/>
                  <a:ext cx="1684340" cy="3772801"/>
                  <a:chOff x="0" y="0"/>
                  <a:chExt cx="1684338" cy="3772799"/>
                </a:xfrm>
              </p:grpSpPr>
              <p:sp>
                <p:nvSpPr>
                  <p:cNvPr id="475" name="Straight Connector 2230"/>
                  <p:cNvSpPr/>
                  <p:nvPr/>
                </p:nvSpPr>
                <p:spPr>
                  <a:xfrm>
                    <a:off x="-1" y="2263672"/>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6" name="Straight Connector 2231"/>
                  <p:cNvSpPr/>
                  <p:nvPr/>
                </p:nvSpPr>
                <p:spPr>
                  <a:xfrm>
                    <a:off x="-1" y="3018228"/>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7" name="Straight Connector 2232"/>
                  <p:cNvSpPr/>
                  <p:nvPr/>
                </p:nvSpPr>
                <p:spPr>
                  <a:xfrm flipV="1">
                    <a:off x="-1" y="3018229"/>
                    <a:ext cx="1684340" cy="7545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8" name="Straight Connector 2233"/>
                  <p:cNvSpPr/>
                  <p:nvPr/>
                </p:nvSpPr>
                <p:spPr>
                  <a:xfrm>
                    <a:off x="-1" y="0"/>
                    <a:ext cx="1684340" cy="301822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79" name="Straight Connector 2234"/>
                  <p:cNvSpPr/>
                  <p:nvPr/>
                </p:nvSpPr>
                <p:spPr>
                  <a:xfrm>
                    <a:off x="0" y="754556"/>
                    <a:ext cx="1684338"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80" name="Straight Connector 2235"/>
                  <p:cNvSpPr/>
                  <p:nvPr/>
                </p:nvSpPr>
                <p:spPr>
                  <a:xfrm>
                    <a:off x="-1" y="1509113"/>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488" name="Group 2236"/>
                <p:cNvGrpSpPr/>
                <p:nvPr/>
              </p:nvGrpSpPr>
              <p:grpSpPr>
                <a:xfrm>
                  <a:off x="-1" y="-1"/>
                  <a:ext cx="1684340" cy="3772787"/>
                  <a:chOff x="0" y="0"/>
                  <a:chExt cx="1684338" cy="3772785"/>
                </a:xfrm>
              </p:grpSpPr>
              <p:sp>
                <p:nvSpPr>
                  <p:cNvPr id="482" name="Straight Connector 2237"/>
                  <p:cNvSpPr/>
                  <p:nvPr/>
                </p:nvSpPr>
                <p:spPr>
                  <a:xfrm>
                    <a:off x="-1" y="3018228"/>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83" name="Straight Connector 2238"/>
                  <p:cNvSpPr/>
                  <p:nvPr/>
                </p:nvSpPr>
                <p:spPr>
                  <a:xfrm>
                    <a:off x="-1" y="3772785"/>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84" name="Straight Connector 2239"/>
                  <p:cNvSpPr/>
                  <p:nvPr/>
                </p:nvSpPr>
                <p:spPr>
                  <a:xfrm>
                    <a:off x="-1" y="0"/>
                    <a:ext cx="1684340" cy="377278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85" name="Straight Connector 2240"/>
                  <p:cNvSpPr/>
                  <p:nvPr/>
                </p:nvSpPr>
                <p:spPr>
                  <a:xfrm>
                    <a:off x="-1" y="754556"/>
                    <a:ext cx="1684340"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86" name="Straight Connector 2241"/>
                  <p:cNvSpPr/>
                  <p:nvPr/>
                </p:nvSpPr>
                <p:spPr>
                  <a:xfrm>
                    <a:off x="0" y="1509113"/>
                    <a:ext cx="1684338"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87" name="Straight Connector 2242"/>
                  <p:cNvSpPr/>
                  <p:nvPr/>
                </p:nvSpPr>
                <p:spPr>
                  <a:xfrm>
                    <a:off x="0" y="2263671"/>
                    <a:ext cx="1684338"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sp>
          <p:nvSpPr>
            <p:cNvPr id="491" name="Straight Connector 2375"/>
            <p:cNvSpPr/>
            <p:nvPr/>
          </p:nvSpPr>
          <p:spPr>
            <a:xfrm flipH="1" flipV="1">
              <a:off x="6816676" y="19808"/>
              <a:ext cx="1675737" cy="115852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2" name="Straight Connector 2376"/>
            <p:cNvSpPr/>
            <p:nvPr/>
          </p:nvSpPr>
          <p:spPr>
            <a:xfrm flipH="1" flipV="1">
              <a:off x="6816676" y="19808"/>
              <a:ext cx="1675737" cy="191309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3" name="Straight Connector 2377"/>
            <p:cNvSpPr/>
            <p:nvPr/>
          </p:nvSpPr>
          <p:spPr>
            <a:xfrm flipH="1" flipV="1">
              <a:off x="6816676" y="19808"/>
              <a:ext cx="1675736" cy="266765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4" name="Straight Connector 2366"/>
            <p:cNvSpPr/>
            <p:nvPr/>
          </p:nvSpPr>
          <p:spPr>
            <a:xfrm flipH="1" flipV="1">
              <a:off x="6816676" y="774366"/>
              <a:ext cx="1675737" cy="40396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5" name="Straight Connector 2367"/>
            <p:cNvSpPr/>
            <p:nvPr/>
          </p:nvSpPr>
          <p:spPr>
            <a:xfrm flipH="1" flipV="1">
              <a:off x="6816676" y="774366"/>
              <a:ext cx="1675737" cy="191309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6" name="Straight Connector 2368"/>
            <p:cNvSpPr/>
            <p:nvPr/>
          </p:nvSpPr>
          <p:spPr>
            <a:xfrm flipH="1" flipV="1">
              <a:off x="6816676" y="774366"/>
              <a:ext cx="1675737" cy="115853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7" name="Straight Connector 2357"/>
            <p:cNvSpPr/>
            <p:nvPr/>
          </p:nvSpPr>
          <p:spPr>
            <a:xfrm flipH="1">
              <a:off x="6816676" y="1178330"/>
              <a:ext cx="1675737" cy="35059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8" name="Straight Connector 2358"/>
            <p:cNvSpPr/>
            <p:nvPr/>
          </p:nvSpPr>
          <p:spPr>
            <a:xfrm flipH="1" flipV="1">
              <a:off x="6816675" y="1528922"/>
              <a:ext cx="1675737" cy="40398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499" name="Straight Connector 2359"/>
            <p:cNvSpPr/>
            <p:nvPr/>
          </p:nvSpPr>
          <p:spPr>
            <a:xfrm flipH="1" flipV="1">
              <a:off x="6816676" y="1528921"/>
              <a:ext cx="1675737" cy="1158540"/>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00" name="Straight Connector 2341"/>
            <p:cNvSpPr/>
            <p:nvPr/>
          </p:nvSpPr>
          <p:spPr>
            <a:xfrm flipH="1">
              <a:off x="6816676" y="2687460"/>
              <a:ext cx="1675737" cy="35057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01" name="Straight Connector 2347"/>
            <p:cNvSpPr/>
            <p:nvPr/>
          </p:nvSpPr>
          <p:spPr>
            <a:xfrm flipH="1">
              <a:off x="6816676" y="1178329"/>
              <a:ext cx="1675737" cy="1859710"/>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02" name="Straight Connector 2348"/>
            <p:cNvSpPr/>
            <p:nvPr/>
          </p:nvSpPr>
          <p:spPr>
            <a:xfrm flipH="1">
              <a:off x="6816676" y="1932902"/>
              <a:ext cx="1675737" cy="110513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03" name="Straight Connector 2338"/>
            <p:cNvSpPr/>
            <p:nvPr/>
          </p:nvSpPr>
          <p:spPr>
            <a:xfrm flipH="1">
              <a:off x="6816676" y="1178330"/>
              <a:ext cx="1675737" cy="261426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04" name="Straight Connector 2339"/>
            <p:cNvSpPr/>
            <p:nvPr/>
          </p:nvSpPr>
          <p:spPr>
            <a:xfrm flipH="1">
              <a:off x="6816675" y="1932902"/>
              <a:ext cx="1675738" cy="185969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05" name="Straight Connector 2340"/>
            <p:cNvSpPr/>
            <p:nvPr/>
          </p:nvSpPr>
          <p:spPr>
            <a:xfrm flipH="1">
              <a:off x="6816676" y="2687460"/>
              <a:ext cx="1675737" cy="110513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sp>
        <p:nvSpPr>
          <p:cNvPr id="507" name="TextBox 165"/>
          <p:cNvSpPr txBox="1"/>
          <p:nvPr/>
        </p:nvSpPr>
        <p:spPr>
          <a:xfrm>
            <a:off x="18998503" y="4789008"/>
            <a:ext cx="4497980" cy="31292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Actions</a:t>
            </a:r>
          </a:p>
          <a:p>
            <a:pPr defTabSz="1828800">
              <a:lnSpc>
                <a:spcPct val="100000"/>
              </a:lnSpc>
              <a:spcBef>
                <a:spcPts val="0"/>
              </a:spcBef>
              <a:defRPr>
                <a:latin typeface="Aptos"/>
                <a:ea typeface="Aptos"/>
                <a:cs typeface="Aptos"/>
                <a:sym typeface="Aptos"/>
              </a:defRPr>
            </a:pPr>
            <a:r>
              <a:t>0.) Do nothing</a:t>
            </a:r>
          </a:p>
          <a:p>
            <a:pPr defTabSz="1828800">
              <a:lnSpc>
                <a:spcPct val="100000"/>
              </a:lnSpc>
              <a:spcBef>
                <a:spcPts val="0"/>
              </a:spcBef>
              <a:defRPr>
                <a:latin typeface="Aptos"/>
                <a:ea typeface="Aptos"/>
                <a:cs typeface="Aptos"/>
                <a:sym typeface="Aptos"/>
              </a:defRPr>
            </a:pPr>
            <a:r>
              <a:t>1.) Move left</a:t>
            </a:r>
          </a:p>
          <a:p>
            <a:pPr defTabSz="1828800">
              <a:lnSpc>
                <a:spcPct val="100000"/>
              </a:lnSpc>
              <a:spcBef>
                <a:spcPts val="0"/>
              </a:spcBef>
              <a:defRPr>
                <a:latin typeface="Aptos"/>
                <a:ea typeface="Aptos"/>
                <a:cs typeface="Aptos"/>
                <a:sym typeface="Aptos"/>
              </a:defRPr>
            </a:pPr>
            <a:r>
              <a:t>2.) Move right</a:t>
            </a:r>
          </a:p>
        </p:txBody>
      </p:sp>
      <p:sp>
        <p:nvSpPr>
          <p:cNvPr id="508" name="TextBox 166"/>
          <p:cNvSpPr txBox="1"/>
          <p:nvPr/>
        </p:nvSpPr>
        <p:spPr>
          <a:xfrm>
            <a:off x="1252155" y="4419675"/>
            <a:ext cx="4497980" cy="38658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State variables</a:t>
            </a:r>
          </a:p>
          <a:p>
            <a:pPr defTabSz="1828800">
              <a:lnSpc>
                <a:spcPct val="100000"/>
              </a:lnSpc>
              <a:spcBef>
                <a:spcPts val="0"/>
              </a:spcBef>
              <a:defRPr>
                <a:latin typeface="Aptos"/>
                <a:ea typeface="Aptos"/>
                <a:cs typeface="Aptos"/>
                <a:sym typeface="Aptos"/>
              </a:defRPr>
            </a:pPr>
            <a:r>
              <a:t>1.) Cart position</a:t>
            </a:r>
          </a:p>
          <a:p>
            <a:pPr defTabSz="1828800">
              <a:lnSpc>
                <a:spcPct val="100000"/>
              </a:lnSpc>
              <a:spcBef>
                <a:spcPts val="0"/>
              </a:spcBef>
              <a:defRPr>
                <a:latin typeface="Aptos"/>
                <a:ea typeface="Aptos"/>
                <a:cs typeface="Aptos"/>
                <a:sym typeface="Aptos"/>
              </a:defRPr>
            </a:pPr>
            <a:r>
              <a:t>2.) Cart velocity</a:t>
            </a:r>
          </a:p>
          <a:p>
            <a:pPr defTabSz="1828800">
              <a:lnSpc>
                <a:spcPct val="100000"/>
              </a:lnSpc>
              <a:spcBef>
                <a:spcPts val="0"/>
              </a:spcBef>
              <a:defRPr>
                <a:latin typeface="Aptos"/>
                <a:ea typeface="Aptos"/>
                <a:cs typeface="Aptos"/>
                <a:sym typeface="Aptos"/>
              </a:defRPr>
            </a:pPr>
            <a:r>
              <a:t>3.) Pole Angle</a:t>
            </a:r>
          </a:p>
          <a:p>
            <a:pPr defTabSz="1828800">
              <a:lnSpc>
                <a:spcPct val="100000"/>
              </a:lnSpc>
              <a:spcBef>
                <a:spcPts val="0"/>
              </a:spcBef>
              <a:defRPr>
                <a:latin typeface="Aptos"/>
                <a:ea typeface="Aptos"/>
                <a:cs typeface="Aptos"/>
                <a:sym typeface="Aptos"/>
              </a:defRPr>
            </a:pPr>
            <a:r>
              <a:t>4.) Pole velocity</a:t>
            </a:r>
          </a:p>
        </p:txBody>
      </p:sp>
      <p:sp>
        <p:nvSpPr>
          <p:cNvPr id="509" name="TextBox 167"/>
          <p:cNvSpPr txBox="1"/>
          <p:nvPr/>
        </p:nvSpPr>
        <p:spPr>
          <a:xfrm>
            <a:off x="8769204" y="10776856"/>
            <a:ext cx="7210213" cy="12750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lgn="ctr" defTabSz="1828800">
              <a:lnSpc>
                <a:spcPct val="100000"/>
              </a:lnSpc>
              <a:spcBef>
                <a:spcPts val="0"/>
              </a:spcBef>
              <a:defRPr sz="3600">
                <a:latin typeface="Aptos"/>
                <a:ea typeface="Aptos"/>
                <a:cs typeface="Aptos"/>
                <a:sym typeface="Aptos"/>
              </a:defRPr>
            </a:pPr>
            <a:r>
              <a:t>We use a deep neural network to approximate </a:t>
            </a:r>
            <a:r>
              <a:rPr b="1"/>
              <a:t>this Q-function</a:t>
            </a:r>
          </a:p>
        </p:txBody>
      </p:sp>
      <p:pic>
        <p:nvPicPr>
          <p:cNvPr id="510" name="Picture 2" descr="Picture 2"/>
          <p:cNvPicPr>
            <a:picLocks noChangeAspect="1"/>
          </p:cNvPicPr>
          <p:nvPr/>
        </p:nvPicPr>
        <p:blipFill>
          <a:blip r:embed="rId3">
            <a:extLst/>
          </a:blip>
          <a:stretch>
            <a:fillRect/>
          </a:stretch>
        </p:blipFill>
        <p:spPr>
          <a:xfrm>
            <a:off x="416690" y="1436697"/>
            <a:ext cx="24384001" cy="3110717"/>
          </a:xfrm>
          <a:prstGeom prst="rect">
            <a:avLst/>
          </a:prstGeom>
          <a:ln w="12700">
            <a:miter lim="400000"/>
          </a:ln>
        </p:spPr>
      </p:pic>
      <p:sp>
        <p:nvSpPr>
          <p:cNvPr id="511" name="Line"/>
          <p:cNvSpPr/>
          <p:nvPr/>
        </p:nvSpPr>
        <p:spPr>
          <a:xfrm flipH="1" flipV="1">
            <a:off x="15827501" y="8331626"/>
            <a:ext cx="2092416" cy="2092415"/>
          </a:xfrm>
          <a:prstGeom prst="line">
            <a:avLst/>
          </a:prstGeom>
          <a:ln w="63500">
            <a:solidFill>
              <a:srgbClr val="000000"/>
            </a:solidFill>
            <a:miter lim="400000"/>
            <a:tailEnd type="triangle"/>
          </a:ln>
        </p:spPr>
        <p:txBody>
          <a:bodyPr lIns="50800" tIns="50800" rIns="50800" bIns="50800" anchor="ctr"/>
          <a:lstStyle/>
          <a:p>
            <a:pPr/>
          </a:p>
        </p:txBody>
      </p:sp>
      <p:sp>
        <p:nvSpPr>
          <p:cNvPr id="512" name="network parameters theta"/>
          <p:cNvSpPr txBox="1"/>
          <p:nvPr/>
        </p:nvSpPr>
        <p:spPr>
          <a:xfrm>
            <a:off x="18321974" y="9678952"/>
            <a:ext cx="3386518" cy="21148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network parameters </a:t>
            </a:r>
            <a:r>
              <a:rPr i="1"/>
              <a:t>theta</a:t>
            </a:r>
          </a:p>
        </p:txBody>
      </p:sp>
      <p:sp>
        <p:nvSpPr>
          <p:cNvPr id="513" name="Slide Number"/>
          <p:cNvSpPr txBox="1"/>
          <p:nvPr>
            <p:ph type="sldNum" sz="quarter" idx="2"/>
          </p:nvPr>
        </p:nvSpPr>
        <p:spPr>
          <a:xfrm>
            <a:off x="22342504" y="12802235"/>
            <a:ext cx="365096"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650" name="Group 1"/>
          <p:cNvGrpSpPr/>
          <p:nvPr/>
        </p:nvGrpSpPr>
        <p:grpSpPr>
          <a:xfrm>
            <a:off x="8128113" y="4665691"/>
            <a:ext cx="8492414" cy="3819281"/>
            <a:chOff x="0" y="0"/>
            <a:chExt cx="8492412" cy="3819279"/>
          </a:xfrm>
        </p:grpSpPr>
        <p:grpSp>
          <p:nvGrpSpPr>
            <p:cNvPr id="634" name="Group 5"/>
            <p:cNvGrpSpPr/>
            <p:nvPr/>
          </p:nvGrpSpPr>
          <p:grpSpPr>
            <a:xfrm>
              <a:off x="-1" y="-1"/>
              <a:ext cx="6232442" cy="3819281"/>
              <a:chOff x="0" y="0"/>
              <a:chExt cx="6232440" cy="3819279"/>
            </a:xfrm>
          </p:grpSpPr>
          <p:grpSp>
            <p:nvGrpSpPr>
              <p:cNvPr id="547" name="Group 2325"/>
              <p:cNvGrpSpPr/>
              <p:nvPr/>
            </p:nvGrpSpPr>
            <p:grpSpPr>
              <a:xfrm>
                <a:off x="-1" y="46496"/>
                <a:ext cx="1684342" cy="3772784"/>
                <a:chOff x="0" y="0"/>
                <a:chExt cx="1684340" cy="3772783"/>
              </a:xfrm>
            </p:grpSpPr>
            <p:grpSp>
              <p:nvGrpSpPr>
                <p:cNvPr id="521" name="Group 2079"/>
                <p:cNvGrpSpPr/>
                <p:nvPr/>
              </p:nvGrpSpPr>
              <p:grpSpPr>
                <a:xfrm>
                  <a:off x="-1" y="-1"/>
                  <a:ext cx="1684342" cy="3018243"/>
                  <a:chOff x="0" y="0"/>
                  <a:chExt cx="1684340" cy="3018241"/>
                </a:xfrm>
              </p:grpSpPr>
              <p:sp>
                <p:nvSpPr>
                  <p:cNvPr id="517" name="Straight Connector 2060"/>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18" name="Straight Connector 2064"/>
                  <p:cNvSpPr/>
                  <p:nvPr/>
                </p:nvSpPr>
                <p:spPr>
                  <a:xfrm flipV="1">
                    <a:off x="-1" y="1"/>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19" name="Straight Connector 2067"/>
                  <p:cNvSpPr/>
                  <p:nvPr/>
                </p:nvSpPr>
                <p:spPr>
                  <a:xfrm flipV="1">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20" name="Straight Connector 2070"/>
                  <p:cNvSpPr/>
                  <p:nvPr/>
                </p:nvSpPr>
                <p:spPr>
                  <a:xfrm flipV="1">
                    <a:off x="-1" y="-1"/>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26" name="Group 2080"/>
                <p:cNvGrpSpPr/>
                <p:nvPr/>
              </p:nvGrpSpPr>
              <p:grpSpPr>
                <a:xfrm>
                  <a:off x="-1" y="754556"/>
                  <a:ext cx="1684342" cy="2263672"/>
                  <a:chOff x="0" y="0"/>
                  <a:chExt cx="1684340" cy="2263670"/>
                </a:xfrm>
              </p:grpSpPr>
              <p:sp>
                <p:nvSpPr>
                  <p:cNvPr id="522" name="Straight Connector 2082"/>
                  <p:cNvSpPr/>
                  <p:nvPr/>
                </p:nvSpPr>
                <p:spPr>
                  <a:xfrm>
                    <a:off x="-1" y="0"/>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23" name="Straight Connector 2083"/>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24" name="Straight Connector 2084"/>
                  <p:cNvSpPr/>
                  <p:nvPr/>
                </p:nvSpPr>
                <p:spPr>
                  <a:xfrm flipV="1">
                    <a:off x="-1" y="1"/>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25" name="Straight Connector 2085"/>
                  <p:cNvSpPr/>
                  <p:nvPr/>
                </p:nvSpPr>
                <p:spPr>
                  <a:xfrm flipV="1">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31" name="Group 2092"/>
                <p:cNvGrpSpPr/>
                <p:nvPr/>
              </p:nvGrpSpPr>
              <p:grpSpPr>
                <a:xfrm>
                  <a:off x="-1" y="754557"/>
                  <a:ext cx="1684342" cy="2263671"/>
                  <a:chOff x="0" y="0"/>
                  <a:chExt cx="1684340" cy="2263670"/>
                </a:xfrm>
              </p:grpSpPr>
              <p:sp>
                <p:nvSpPr>
                  <p:cNvPr id="527" name="Straight Connector 2093"/>
                  <p:cNvSpPr/>
                  <p:nvPr/>
                </p:nvSpPr>
                <p:spPr>
                  <a:xfrm>
                    <a:off x="-1" y="0"/>
                    <a:ext cx="1684342"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28" name="Straight Connector 2094"/>
                  <p:cNvSpPr/>
                  <p:nvPr/>
                </p:nvSpPr>
                <p:spPr>
                  <a:xfrm>
                    <a:off x="-1" y="754556"/>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29" name="Straight Connector 2095"/>
                  <p:cNvSpPr/>
                  <p:nvPr/>
                </p:nvSpPr>
                <p:spPr>
                  <a:xfrm flipV="1">
                    <a:off x="-1" y="754557"/>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30" name="Straight Connector 2096"/>
                  <p:cNvSpPr/>
                  <p:nvPr/>
                </p:nvSpPr>
                <p:spPr>
                  <a:xfrm flipV="1">
                    <a:off x="-1" y="754558"/>
                    <a:ext cx="1684341"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36" name="Group 2102"/>
                <p:cNvGrpSpPr/>
                <p:nvPr/>
              </p:nvGrpSpPr>
              <p:grpSpPr>
                <a:xfrm>
                  <a:off x="-1" y="754556"/>
                  <a:ext cx="1684342" cy="2263672"/>
                  <a:chOff x="0" y="0"/>
                  <a:chExt cx="1684340" cy="2263670"/>
                </a:xfrm>
              </p:grpSpPr>
              <p:sp>
                <p:nvSpPr>
                  <p:cNvPr id="532" name="Straight Connector 2103"/>
                  <p:cNvSpPr/>
                  <p:nvPr/>
                </p:nvSpPr>
                <p:spPr>
                  <a:xfrm>
                    <a:off x="-1" y="754557"/>
                    <a:ext cx="1684342"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33" name="Straight Connector 2104"/>
                  <p:cNvSpPr/>
                  <p:nvPr/>
                </p:nvSpPr>
                <p:spPr>
                  <a:xfrm>
                    <a:off x="-1" y="1509113"/>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34" name="Straight Connector 2105"/>
                  <p:cNvSpPr/>
                  <p:nvPr/>
                </p:nvSpPr>
                <p:spPr>
                  <a:xfrm flipV="1">
                    <a:off x="-1" y="1509114"/>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35" name="Straight Connector 2110"/>
                  <p:cNvSpPr/>
                  <p:nvPr/>
                </p:nvSpPr>
                <p:spPr>
                  <a:xfrm>
                    <a:off x="0" y="-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41" name="Group 2113"/>
                <p:cNvGrpSpPr/>
                <p:nvPr/>
              </p:nvGrpSpPr>
              <p:grpSpPr>
                <a:xfrm>
                  <a:off x="-1" y="754556"/>
                  <a:ext cx="1684342" cy="2263672"/>
                  <a:chOff x="0" y="0"/>
                  <a:chExt cx="1684340" cy="2263670"/>
                </a:xfrm>
              </p:grpSpPr>
              <p:sp>
                <p:nvSpPr>
                  <p:cNvPr id="537" name="Straight Connector 2114"/>
                  <p:cNvSpPr/>
                  <p:nvPr/>
                </p:nvSpPr>
                <p:spPr>
                  <a:xfrm>
                    <a:off x="-1" y="1509113"/>
                    <a:ext cx="1684342"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38" name="Straight Connector 2115"/>
                  <p:cNvSpPr/>
                  <p:nvPr/>
                </p:nvSpPr>
                <p:spPr>
                  <a:xfrm>
                    <a:off x="-1" y="2263670"/>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39" name="Straight Connector 2120"/>
                  <p:cNvSpPr/>
                  <p:nvPr/>
                </p:nvSpPr>
                <p:spPr>
                  <a:xfrm>
                    <a:off x="0" y="0"/>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40" name="Straight Connector 2121"/>
                  <p:cNvSpPr/>
                  <p:nvPr/>
                </p:nvSpPr>
                <p:spPr>
                  <a:xfrm>
                    <a:off x="0" y="754556"/>
                    <a:ext cx="1684340"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46" name="Group 2123"/>
                <p:cNvGrpSpPr/>
                <p:nvPr/>
              </p:nvGrpSpPr>
              <p:grpSpPr>
                <a:xfrm>
                  <a:off x="-1" y="754556"/>
                  <a:ext cx="1684342" cy="3018228"/>
                  <a:chOff x="0" y="0"/>
                  <a:chExt cx="1684340" cy="3018227"/>
                </a:xfrm>
              </p:grpSpPr>
              <p:sp>
                <p:nvSpPr>
                  <p:cNvPr id="542" name="Straight Connector 2124"/>
                  <p:cNvSpPr/>
                  <p:nvPr/>
                </p:nvSpPr>
                <p:spPr>
                  <a:xfrm>
                    <a:off x="-1" y="2263670"/>
                    <a:ext cx="1684342"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43" name="Straight Connector 2129"/>
                  <p:cNvSpPr/>
                  <p:nvPr/>
                </p:nvSpPr>
                <p:spPr>
                  <a:xfrm>
                    <a:off x="0" y="-1"/>
                    <a:ext cx="1684340" cy="301822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44" name="Straight Connector 2130"/>
                  <p:cNvSpPr/>
                  <p:nvPr/>
                </p:nvSpPr>
                <p:spPr>
                  <a:xfrm>
                    <a:off x="0" y="754556"/>
                    <a:ext cx="1684341" cy="22636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45" name="Straight Connector 2131"/>
                  <p:cNvSpPr/>
                  <p:nvPr/>
                </p:nvSpPr>
                <p:spPr>
                  <a:xfrm>
                    <a:off x="0" y="1509113"/>
                    <a:ext cx="1684340"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nvGrpSpPr>
              <p:cNvPr id="590" name="Group 2445"/>
              <p:cNvGrpSpPr/>
              <p:nvPr/>
            </p:nvGrpSpPr>
            <p:grpSpPr>
              <a:xfrm>
                <a:off x="2279525" y="-1"/>
                <a:ext cx="1684342" cy="3772802"/>
                <a:chOff x="0" y="0"/>
                <a:chExt cx="1684340" cy="3772800"/>
              </a:xfrm>
            </p:grpSpPr>
            <p:grpSp>
              <p:nvGrpSpPr>
                <p:cNvPr id="554" name="Group 2133"/>
                <p:cNvGrpSpPr/>
                <p:nvPr/>
              </p:nvGrpSpPr>
              <p:grpSpPr>
                <a:xfrm>
                  <a:off x="-1" y="-1"/>
                  <a:ext cx="1684342" cy="3772802"/>
                  <a:chOff x="0" y="0"/>
                  <a:chExt cx="1684340" cy="3772800"/>
                </a:xfrm>
              </p:grpSpPr>
              <p:sp>
                <p:nvSpPr>
                  <p:cNvPr id="548" name="Straight Connector 2135"/>
                  <p:cNvSpPr/>
                  <p:nvPr/>
                </p:nvSpPr>
                <p:spPr>
                  <a:xfrm>
                    <a:off x="-1" y="-1"/>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49" name="Straight Connector 2136"/>
                  <p:cNvSpPr/>
                  <p:nvPr/>
                </p:nvSpPr>
                <p:spPr>
                  <a:xfrm flipV="1">
                    <a:off x="-1" y="0"/>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0" name="Straight Connector 2137"/>
                  <p:cNvSpPr/>
                  <p:nvPr/>
                </p:nvSpPr>
                <p:spPr>
                  <a:xfrm flipV="1">
                    <a:off x="-1" y="1"/>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1" name="Straight Connector 2138"/>
                  <p:cNvSpPr/>
                  <p:nvPr/>
                </p:nvSpPr>
                <p:spPr>
                  <a:xfrm flipV="1">
                    <a:off x="0" y="0"/>
                    <a:ext cx="1684340" cy="226368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2" name="Straight Connector 2139"/>
                  <p:cNvSpPr/>
                  <p:nvPr/>
                </p:nvSpPr>
                <p:spPr>
                  <a:xfrm flipV="1">
                    <a:off x="-1" y="1"/>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3" name="Straight Connector 2140"/>
                  <p:cNvSpPr/>
                  <p:nvPr/>
                </p:nvSpPr>
                <p:spPr>
                  <a:xfrm flipV="1">
                    <a:off x="0" y="-1"/>
                    <a:ext cx="1684341" cy="3772802"/>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61" name="Group 2142"/>
                <p:cNvGrpSpPr/>
                <p:nvPr/>
              </p:nvGrpSpPr>
              <p:grpSpPr>
                <a:xfrm>
                  <a:off x="-1" y="-1"/>
                  <a:ext cx="1684341" cy="3772802"/>
                  <a:chOff x="0" y="0"/>
                  <a:chExt cx="1684340" cy="3772800"/>
                </a:xfrm>
              </p:grpSpPr>
              <p:sp>
                <p:nvSpPr>
                  <p:cNvPr id="555" name="Straight Connector 2143"/>
                  <p:cNvSpPr/>
                  <p:nvPr/>
                </p:nvSpPr>
                <p:spPr>
                  <a:xfrm>
                    <a:off x="0" y="-1"/>
                    <a:ext cx="1684340"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6" name="Straight Connector 2144"/>
                  <p:cNvSpPr/>
                  <p:nvPr/>
                </p:nvSpPr>
                <p:spPr>
                  <a:xfrm>
                    <a:off x="-1" y="754556"/>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7" name="Straight Connector 2145"/>
                  <p:cNvSpPr/>
                  <p:nvPr/>
                </p:nvSpPr>
                <p:spPr>
                  <a:xfrm flipV="1">
                    <a:off x="-1" y="754557"/>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8" name="Straight Connector 2146"/>
                  <p:cNvSpPr/>
                  <p:nvPr/>
                </p:nvSpPr>
                <p:spPr>
                  <a:xfrm flipV="1">
                    <a:off x="-1" y="754558"/>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59" name="Straight Connector 2147"/>
                  <p:cNvSpPr/>
                  <p:nvPr/>
                </p:nvSpPr>
                <p:spPr>
                  <a:xfrm flipV="1">
                    <a:off x="0" y="754557"/>
                    <a:ext cx="1684340" cy="226368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60" name="Straight Connector 2148"/>
                  <p:cNvSpPr/>
                  <p:nvPr/>
                </p:nvSpPr>
                <p:spPr>
                  <a:xfrm flipV="1">
                    <a:off x="-1" y="754558"/>
                    <a:ext cx="1684342" cy="301824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68" name="Group 2151"/>
                <p:cNvGrpSpPr/>
                <p:nvPr/>
              </p:nvGrpSpPr>
              <p:grpSpPr>
                <a:xfrm>
                  <a:off x="0" y="-1"/>
                  <a:ext cx="1684341" cy="3772802"/>
                  <a:chOff x="0" y="0"/>
                  <a:chExt cx="1684340" cy="3772800"/>
                </a:xfrm>
              </p:grpSpPr>
              <p:sp>
                <p:nvSpPr>
                  <p:cNvPr id="562" name="Straight Connector 2152"/>
                  <p:cNvSpPr/>
                  <p:nvPr/>
                </p:nvSpPr>
                <p:spPr>
                  <a:xfrm>
                    <a:off x="0" y="754556"/>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63" name="Straight Connector 2153"/>
                  <p:cNvSpPr/>
                  <p:nvPr/>
                </p:nvSpPr>
                <p:spPr>
                  <a:xfrm>
                    <a:off x="-1" y="1509113"/>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64" name="Straight Connector 2154"/>
                  <p:cNvSpPr/>
                  <p:nvPr/>
                </p:nvSpPr>
                <p:spPr>
                  <a:xfrm flipV="1">
                    <a:off x="-1" y="1509113"/>
                    <a:ext cx="1684342" cy="75455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65" name="Straight Connector 2155"/>
                  <p:cNvSpPr/>
                  <p:nvPr/>
                </p:nvSpPr>
                <p:spPr>
                  <a:xfrm flipV="1">
                    <a:off x="-1" y="1509115"/>
                    <a:ext cx="1684342"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66" name="Straight Connector 2156"/>
                  <p:cNvSpPr/>
                  <p:nvPr/>
                </p:nvSpPr>
                <p:spPr>
                  <a:xfrm flipV="1">
                    <a:off x="0" y="1509113"/>
                    <a:ext cx="1684340" cy="226368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67" name="Straight Connector 2159"/>
                  <p:cNvSpPr/>
                  <p:nvPr/>
                </p:nvSpPr>
                <p:spPr>
                  <a:xfrm>
                    <a:off x="0" y="-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75" name="Group 2160"/>
                <p:cNvGrpSpPr/>
                <p:nvPr/>
              </p:nvGrpSpPr>
              <p:grpSpPr>
                <a:xfrm>
                  <a:off x="-1" y="-1"/>
                  <a:ext cx="1684342" cy="3772787"/>
                  <a:chOff x="0" y="0"/>
                  <a:chExt cx="1684340" cy="3772785"/>
                </a:xfrm>
              </p:grpSpPr>
              <p:sp>
                <p:nvSpPr>
                  <p:cNvPr id="569" name="Straight Connector 2161"/>
                  <p:cNvSpPr/>
                  <p:nvPr/>
                </p:nvSpPr>
                <p:spPr>
                  <a:xfrm>
                    <a:off x="-1" y="1509113"/>
                    <a:ext cx="1684342" cy="75455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0" name="Straight Connector 2162"/>
                  <p:cNvSpPr/>
                  <p:nvPr/>
                </p:nvSpPr>
                <p:spPr>
                  <a:xfrm>
                    <a:off x="-1" y="2263671"/>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1" name="Straight Connector 2163"/>
                  <p:cNvSpPr/>
                  <p:nvPr/>
                </p:nvSpPr>
                <p:spPr>
                  <a:xfrm flipV="1">
                    <a:off x="-1" y="2263672"/>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2" name="Straight Connector 2164"/>
                  <p:cNvSpPr/>
                  <p:nvPr/>
                </p:nvSpPr>
                <p:spPr>
                  <a:xfrm flipV="1">
                    <a:off x="-1" y="2263673"/>
                    <a:ext cx="1684342"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3" name="Straight Connector 2167"/>
                  <p:cNvSpPr/>
                  <p:nvPr/>
                </p:nvSpPr>
                <p:spPr>
                  <a:xfrm>
                    <a:off x="0" y="-1"/>
                    <a:ext cx="1684340" cy="226367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4" name="Straight Connector 2168"/>
                  <p:cNvSpPr/>
                  <p:nvPr/>
                </p:nvSpPr>
                <p:spPr>
                  <a:xfrm>
                    <a:off x="0" y="754556"/>
                    <a:ext cx="1684340"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82" name="Group 2169"/>
                <p:cNvGrpSpPr/>
                <p:nvPr/>
              </p:nvGrpSpPr>
              <p:grpSpPr>
                <a:xfrm>
                  <a:off x="-1" y="0"/>
                  <a:ext cx="1684342" cy="3772786"/>
                  <a:chOff x="0" y="0"/>
                  <a:chExt cx="1684340" cy="3772785"/>
                </a:xfrm>
              </p:grpSpPr>
              <p:sp>
                <p:nvSpPr>
                  <p:cNvPr id="576" name="Straight Connector 2170"/>
                  <p:cNvSpPr/>
                  <p:nvPr/>
                </p:nvSpPr>
                <p:spPr>
                  <a:xfrm>
                    <a:off x="0" y="2263671"/>
                    <a:ext cx="1684340"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7" name="Straight Connector 2171"/>
                  <p:cNvSpPr/>
                  <p:nvPr/>
                </p:nvSpPr>
                <p:spPr>
                  <a:xfrm>
                    <a:off x="-1" y="3018228"/>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8" name="Straight Connector 2172"/>
                  <p:cNvSpPr/>
                  <p:nvPr/>
                </p:nvSpPr>
                <p:spPr>
                  <a:xfrm flipV="1">
                    <a:off x="-1" y="3018229"/>
                    <a:ext cx="1684341"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79" name="Straight Connector 2175"/>
                  <p:cNvSpPr/>
                  <p:nvPr/>
                </p:nvSpPr>
                <p:spPr>
                  <a:xfrm>
                    <a:off x="-1" y="0"/>
                    <a:ext cx="1684342"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80" name="Straight Connector 2176"/>
                  <p:cNvSpPr/>
                  <p:nvPr/>
                </p:nvSpPr>
                <p:spPr>
                  <a:xfrm>
                    <a:off x="0" y="754556"/>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81" name="Straight Connector 2177"/>
                  <p:cNvSpPr/>
                  <p:nvPr/>
                </p:nvSpPr>
                <p:spPr>
                  <a:xfrm>
                    <a:off x="0" y="1509113"/>
                    <a:ext cx="1684340"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589" name="Group 2178"/>
                <p:cNvGrpSpPr/>
                <p:nvPr/>
              </p:nvGrpSpPr>
              <p:grpSpPr>
                <a:xfrm>
                  <a:off x="-1" y="0"/>
                  <a:ext cx="1684342" cy="3772786"/>
                  <a:chOff x="0" y="0"/>
                  <a:chExt cx="1684340" cy="3772785"/>
                </a:xfrm>
              </p:grpSpPr>
              <p:sp>
                <p:nvSpPr>
                  <p:cNvPr id="583" name="Straight Connector 2179"/>
                  <p:cNvSpPr/>
                  <p:nvPr/>
                </p:nvSpPr>
                <p:spPr>
                  <a:xfrm>
                    <a:off x="0" y="3018228"/>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84" name="Straight Connector 2180"/>
                  <p:cNvSpPr/>
                  <p:nvPr/>
                </p:nvSpPr>
                <p:spPr>
                  <a:xfrm>
                    <a:off x="-1" y="3772785"/>
                    <a:ext cx="1684342"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85" name="Straight Connector 2183"/>
                  <p:cNvSpPr/>
                  <p:nvPr/>
                </p:nvSpPr>
                <p:spPr>
                  <a:xfrm>
                    <a:off x="-1" y="0"/>
                    <a:ext cx="1684342" cy="377278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86" name="Straight Connector 2184"/>
                  <p:cNvSpPr/>
                  <p:nvPr/>
                </p:nvSpPr>
                <p:spPr>
                  <a:xfrm>
                    <a:off x="-1" y="754556"/>
                    <a:ext cx="1684342"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87" name="Straight Connector 2185"/>
                  <p:cNvSpPr/>
                  <p:nvPr/>
                </p:nvSpPr>
                <p:spPr>
                  <a:xfrm>
                    <a:off x="0" y="1509113"/>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88" name="Straight Connector 2186"/>
                  <p:cNvSpPr/>
                  <p:nvPr/>
                </p:nvSpPr>
                <p:spPr>
                  <a:xfrm>
                    <a:off x="0" y="2263671"/>
                    <a:ext cx="1684340"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nvGrpSpPr>
              <p:cNvPr id="633" name="Group 2446"/>
              <p:cNvGrpSpPr/>
              <p:nvPr/>
            </p:nvGrpSpPr>
            <p:grpSpPr>
              <a:xfrm>
                <a:off x="4548101" y="19808"/>
                <a:ext cx="1684340" cy="3772801"/>
                <a:chOff x="0" y="0"/>
                <a:chExt cx="1684338" cy="3772800"/>
              </a:xfrm>
            </p:grpSpPr>
            <p:grpSp>
              <p:nvGrpSpPr>
                <p:cNvPr id="597" name="Group 2201"/>
                <p:cNvGrpSpPr/>
                <p:nvPr/>
              </p:nvGrpSpPr>
              <p:grpSpPr>
                <a:xfrm>
                  <a:off x="-1" y="14"/>
                  <a:ext cx="1684340" cy="3772787"/>
                  <a:chOff x="0" y="0"/>
                  <a:chExt cx="1684338" cy="3772785"/>
                </a:xfrm>
              </p:grpSpPr>
              <p:sp>
                <p:nvSpPr>
                  <p:cNvPr id="591" name="Straight Connector 2202"/>
                  <p:cNvSpPr/>
                  <p:nvPr/>
                </p:nvSpPr>
                <p:spPr>
                  <a:xfrm>
                    <a:off x="-1" y="0"/>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92" name="Straight Connector 2203"/>
                  <p:cNvSpPr/>
                  <p:nvPr/>
                </p:nvSpPr>
                <p:spPr>
                  <a:xfrm flipV="1">
                    <a:off x="-1" y="0"/>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93" name="Straight Connector 2204"/>
                  <p:cNvSpPr/>
                  <p:nvPr/>
                </p:nvSpPr>
                <p:spPr>
                  <a:xfrm flipV="1">
                    <a:off x="-1" y="1"/>
                    <a:ext cx="1684339"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94" name="Straight Connector 2205"/>
                  <p:cNvSpPr/>
                  <p:nvPr/>
                </p:nvSpPr>
                <p:spPr>
                  <a:xfrm flipV="1">
                    <a:off x="-1" y="0"/>
                    <a:ext cx="1684340" cy="2263672"/>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95" name="Straight Connector 2206"/>
                  <p:cNvSpPr/>
                  <p:nvPr/>
                </p:nvSpPr>
                <p:spPr>
                  <a:xfrm flipV="1">
                    <a:off x="-1" y="0"/>
                    <a:ext cx="1684339"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96" name="Straight Connector 2207"/>
                  <p:cNvSpPr/>
                  <p:nvPr/>
                </p:nvSpPr>
                <p:spPr>
                  <a:xfrm flipV="1">
                    <a:off x="-1" y="1"/>
                    <a:ext cx="1684340" cy="377278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604" name="Group 2208"/>
                <p:cNvGrpSpPr/>
                <p:nvPr/>
              </p:nvGrpSpPr>
              <p:grpSpPr>
                <a:xfrm>
                  <a:off x="-1" y="14"/>
                  <a:ext cx="1684340" cy="3772786"/>
                  <a:chOff x="0" y="0"/>
                  <a:chExt cx="1684338" cy="3772785"/>
                </a:xfrm>
              </p:grpSpPr>
              <p:sp>
                <p:nvSpPr>
                  <p:cNvPr id="598" name="Straight Connector 2209"/>
                  <p:cNvSpPr/>
                  <p:nvPr/>
                </p:nvSpPr>
                <p:spPr>
                  <a:xfrm>
                    <a:off x="-1" y="0"/>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599" name="Straight Connector 2210"/>
                  <p:cNvSpPr/>
                  <p:nvPr/>
                </p:nvSpPr>
                <p:spPr>
                  <a:xfrm>
                    <a:off x="-1" y="754556"/>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0" name="Straight Connector 2211"/>
                  <p:cNvSpPr/>
                  <p:nvPr/>
                </p:nvSpPr>
                <p:spPr>
                  <a:xfrm flipV="1">
                    <a:off x="-1" y="754557"/>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1" name="Straight Connector 2212"/>
                  <p:cNvSpPr/>
                  <p:nvPr/>
                </p:nvSpPr>
                <p:spPr>
                  <a:xfrm flipV="1">
                    <a:off x="-1" y="754557"/>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2" name="Straight Connector 2213"/>
                  <p:cNvSpPr/>
                  <p:nvPr/>
                </p:nvSpPr>
                <p:spPr>
                  <a:xfrm flipV="1">
                    <a:off x="-1" y="754556"/>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3" name="Straight Connector 2214"/>
                  <p:cNvSpPr/>
                  <p:nvPr/>
                </p:nvSpPr>
                <p:spPr>
                  <a:xfrm flipV="1">
                    <a:off x="-1" y="754557"/>
                    <a:ext cx="1684339"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611" name="Group 2215"/>
                <p:cNvGrpSpPr/>
                <p:nvPr/>
              </p:nvGrpSpPr>
              <p:grpSpPr>
                <a:xfrm>
                  <a:off x="-1" y="14"/>
                  <a:ext cx="1684340" cy="3772787"/>
                  <a:chOff x="0" y="0"/>
                  <a:chExt cx="1684338" cy="3772785"/>
                </a:xfrm>
              </p:grpSpPr>
              <p:sp>
                <p:nvSpPr>
                  <p:cNvPr id="605" name="Straight Connector 2216"/>
                  <p:cNvSpPr/>
                  <p:nvPr/>
                </p:nvSpPr>
                <p:spPr>
                  <a:xfrm>
                    <a:off x="-1" y="754557"/>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6" name="Straight Connector 2217"/>
                  <p:cNvSpPr/>
                  <p:nvPr/>
                </p:nvSpPr>
                <p:spPr>
                  <a:xfrm>
                    <a:off x="-1" y="1509113"/>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7" name="Straight Connector 2218"/>
                  <p:cNvSpPr/>
                  <p:nvPr/>
                </p:nvSpPr>
                <p:spPr>
                  <a:xfrm flipV="1">
                    <a:off x="-1" y="1509114"/>
                    <a:ext cx="1684339" cy="75455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8" name="Straight Connector 2219"/>
                  <p:cNvSpPr/>
                  <p:nvPr/>
                </p:nvSpPr>
                <p:spPr>
                  <a:xfrm flipV="1">
                    <a:off x="-1" y="1509114"/>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09" name="Straight Connector 2220"/>
                  <p:cNvSpPr/>
                  <p:nvPr/>
                </p:nvSpPr>
                <p:spPr>
                  <a:xfrm flipV="1">
                    <a:off x="-1" y="1509113"/>
                    <a:ext cx="1684340"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10" name="Straight Connector 2221"/>
                  <p:cNvSpPr/>
                  <p:nvPr/>
                </p:nvSpPr>
                <p:spPr>
                  <a:xfrm>
                    <a:off x="0" y="-1"/>
                    <a:ext cx="1684338"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618" name="Group 2222"/>
                <p:cNvGrpSpPr/>
                <p:nvPr/>
              </p:nvGrpSpPr>
              <p:grpSpPr>
                <a:xfrm>
                  <a:off x="-1" y="0"/>
                  <a:ext cx="1684340" cy="3772801"/>
                  <a:chOff x="0" y="0"/>
                  <a:chExt cx="1684338" cy="3772799"/>
                </a:xfrm>
              </p:grpSpPr>
              <p:sp>
                <p:nvSpPr>
                  <p:cNvPr id="612" name="Straight Connector 2223"/>
                  <p:cNvSpPr/>
                  <p:nvPr/>
                </p:nvSpPr>
                <p:spPr>
                  <a:xfrm>
                    <a:off x="-1" y="1509113"/>
                    <a:ext cx="1684340" cy="7545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13" name="Straight Connector 2224"/>
                  <p:cNvSpPr/>
                  <p:nvPr/>
                </p:nvSpPr>
                <p:spPr>
                  <a:xfrm>
                    <a:off x="-1" y="2263686"/>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14" name="Straight Connector 2225"/>
                  <p:cNvSpPr/>
                  <p:nvPr/>
                </p:nvSpPr>
                <p:spPr>
                  <a:xfrm flipV="1">
                    <a:off x="-1" y="2263687"/>
                    <a:ext cx="1684339"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15" name="Straight Connector 2226"/>
                  <p:cNvSpPr/>
                  <p:nvPr/>
                </p:nvSpPr>
                <p:spPr>
                  <a:xfrm flipV="1">
                    <a:off x="-1" y="2263688"/>
                    <a:ext cx="1684339" cy="150911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16" name="Straight Connector 2227"/>
                  <p:cNvSpPr/>
                  <p:nvPr/>
                </p:nvSpPr>
                <p:spPr>
                  <a:xfrm>
                    <a:off x="-1" y="0"/>
                    <a:ext cx="1684340" cy="226368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17" name="Straight Connector 2228"/>
                  <p:cNvSpPr/>
                  <p:nvPr/>
                </p:nvSpPr>
                <p:spPr>
                  <a:xfrm>
                    <a:off x="0" y="754556"/>
                    <a:ext cx="1684338" cy="15091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625" name="Group 2229"/>
                <p:cNvGrpSpPr/>
                <p:nvPr/>
              </p:nvGrpSpPr>
              <p:grpSpPr>
                <a:xfrm>
                  <a:off x="-1" y="-1"/>
                  <a:ext cx="1684340" cy="3772801"/>
                  <a:chOff x="0" y="0"/>
                  <a:chExt cx="1684338" cy="3772799"/>
                </a:xfrm>
              </p:grpSpPr>
              <p:sp>
                <p:nvSpPr>
                  <p:cNvPr id="619" name="Straight Connector 2230"/>
                  <p:cNvSpPr/>
                  <p:nvPr/>
                </p:nvSpPr>
                <p:spPr>
                  <a:xfrm>
                    <a:off x="-1" y="2263672"/>
                    <a:ext cx="1684340" cy="754556"/>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0" name="Straight Connector 2231"/>
                  <p:cNvSpPr/>
                  <p:nvPr/>
                </p:nvSpPr>
                <p:spPr>
                  <a:xfrm>
                    <a:off x="-1" y="3018228"/>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1" name="Straight Connector 2232"/>
                  <p:cNvSpPr/>
                  <p:nvPr/>
                </p:nvSpPr>
                <p:spPr>
                  <a:xfrm flipV="1">
                    <a:off x="-1" y="3018229"/>
                    <a:ext cx="1684340" cy="75457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2" name="Straight Connector 2233"/>
                  <p:cNvSpPr/>
                  <p:nvPr/>
                </p:nvSpPr>
                <p:spPr>
                  <a:xfrm>
                    <a:off x="-1" y="0"/>
                    <a:ext cx="1684340" cy="3018228"/>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3" name="Straight Connector 2234"/>
                  <p:cNvSpPr/>
                  <p:nvPr/>
                </p:nvSpPr>
                <p:spPr>
                  <a:xfrm>
                    <a:off x="0" y="754556"/>
                    <a:ext cx="1684338"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4" name="Straight Connector 2235"/>
                  <p:cNvSpPr/>
                  <p:nvPr/>
                </p:nvSpPr>
                <p:spPr>
                  <a:xfrm>
                    <a:off x="-1" y="1509113"/>
                    <a:ext cx="1684339" cy="150911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nvGrpSpPr>
                <p:cNvPr id="632" name="Group 2236"/>
                <p:cNvGrpSpPr/>
                <p:nvPr/>
              </p:nvGrpSpPr>
              <p:grpSpPr>
                <a:xfrm>
                  <a:off x="-1" y="-1"/>
                  <a:ext cx="1684340" cy="3772787"/>
                  <a:chOff x="0" y="0"/>
                  <a:chExt cx="1684338" cy="3772785"/>
                </a:xfrm>
              </p:grpSpPr>
              <p:sp>
                <p:nvSpPr>
                  <p:cNvPr id="626" name="Straight Connector 2237"/>
                  <p:cNvSpPr/>
                  <p:nvPr/>
                </p:nvSpPr>
                <p:spPr>
                  <a:xfrm>
                    <a:off x="-1" y="3018228"/>
                    <a:ext cx="1684340" cy="75455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7" name="Straight Connector 2238"/>
                  <p:cNvSpPr/>
                  <p:nvPr/>
                </p:nvSpPr>
                <p:spPr>
                  <a:xfrm>
                    <a:off x="-1" y="3772785"/>
                    <a:ext cx="1684340" cy="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8" name="Straight Connector 2239"/>
                  <p:cNvSpPr/>
                  <p:nvPr/>
                </p:nvSpPr>
                <p:spPr>
                  <a:xfrm>
                    <a:off x="-1" y="0"/>
                    <a:ext cx="1684340" cy="377278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29" name="Straight Connector 2240"/>
                  <p:cNvSpPr/>
                  <p:nvPr/>
                </p:nvSpPr>
                <p:spPr>
                  <a:xfrm>
                    <a:off x="-1" y="754556"/>
                    <a:ext cx="1684340" cy="3018229"/>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30" name="Straight Connector 2241"/>
                  <p:cNvSpPr/>
                  <p:nvPr/>
                </p:nvSpPr>
                <p:spPr>
                  <a:xfrm>
                    <a:off x="0" y="1509113"/>
                    <a:ext cx="1684338" cy="226367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31" name="Straight Connector 2242"/>
                  <p:cNvSpPr/>
                  <p:nvPr/>
                </p:nvSpPr>
                <p:spPr>
                  <a:xfrm>
                    <a:off x="0" y="2263671"/>
                    <a:ext cx="1684338" cy="1509114"/>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grpSp>
        </p:grpSp>
        <p:sp>
          <p:nvSpPr>
            <p:cNvPr id="635" name="Straight Connector 2375"/>
            <p:cNvSpPr/>
            <p:nvPr/>
          </p:nvSpPr>
          <p:spPr>
            <a:xfrm flipH="1" flipV="1">
              <a:off x="6816676" y="19808"/>
              <a:ext cx="1675737" cy="115852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36" name="Straight Connector 2376"/>
            <p:cNvSpPr/>
            <p:nvPr/>
          </p:nvSpPr>
          <p:spPr>
            <a:xfrm flipH="1" flipV="1">
              <a:off x="6816676" y="19808"/>
              <a:ext cx="1675737" cy="191309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37" name="Straight Connector 2377"/>
            <p:cNvSpPr/>
            <p:nvPr/>
          </p:nvSpPr>
          <p:spPr>
            <a:xfrm flipH="1" flipV="1">
              <a:off x="6816676" y="19808"/>
              <a:ext cx="1675736" cy="266765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38" name="Straight Connector 2366"/>
            <p:cNvSpPr/>
            <p:nvPr/>
          </p:nvSpPr>
          <p:spPr>
            <a:xfrm flipH="1" flipV="1">
              <a:off x="6816676" y="774366"/>
              <a:ext cx="1675737" cy="40396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39" name="Straight Connector 2367"/>
            <p:cNvSpPr/>
            <p:nvPr/>
          </p:nvSpPr>
          <p:spPr>
            <a:xfrm flipH="1" flipV="1">
              <a:off x="6816676" y="774366"/>
              <a:ext cx="1675737" cy="191309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0" name="Straight Connector 2368"/>
            <p:cNvSpPr/>
            <p:nvPr/>
          </p:nvSpPr>
          <p:spPr>
            <a:xfrm flipH="1" flipV="1">
              <a:off x="6816676" y="774366"/>
              <a:ext cx="1675737" cy="115853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1" name="Straight Connector 2357"/>
            <p:cNvSpPr/>
            <p:nvPr/>
          </p:nvSpPr>
          <p:spPr>
            <a:xfrm flipH="1">
              <a:off x="6816676" y="1178330"/>
              <a:ext cx="1675737" cy="35059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2" name="Straight Connector 2358"/>
            <p:cNvSpPr/>
            <p:nvPr/>
          </p:nvSpPr>
          <p:spPr>
            <a:xfrm flipH="1" flipV="1">
              <a:off x="6816675" y="1528922"/>
              <a:ext cx="1675737" cy="403981"/>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3" name="Straight Connector 2359"/>
            <p:cNvSpPr/>
            <p:nvPr/>
          </p:nvSpPr>
          <p:spPr>
            <a:xfrm flipH="1" flipV="1">
              <a:off x="6816676" y="1528921"/>
              <a:ext cx="1675737" cy="1158540"/>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4" name="Straight Connector 2341"/>
            <p:cNvSpPr/>
            <p:nvPr/>
          </p:nvSpPr>
          <p:spPr>
            <a:xfrm flipH="1">
              <a:off x="6816676" y="2687460"/>
              <a:ext cx="1675737" cy="350577"/>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5" name="Straight Connector 2347"/>
            <p:cNvSpPr/>
            <p:nvPr/>
          </p:nvSpPr>
          <p:spPr>
            <a:xfrm flipH="1">
              <a:off x="6816676" y="1178329"/>
              <a:ext cx="1675737" cy="1859710"/>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6" name="Straight Connector 2348"/>
            <p:cNvSpPr/>
            <p:nvPr/>
          </p:nvSpPr>
          <p:spPr>
            <a:xfrm flipH="1">
              <a:off x="6816676" y="1932902"/>
              <a:ext cx="1675737" cy="110513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7" name="Straight Connector 2338"/>
            <p:cNvSpPr/>
            <p:nvPr/>
          </p:nvSpPr>
          <p:spPr>
            <a:xfrm flipH="1">
              <a:off x="6816676" y="1178330"/>
              <a:ext cx="1675737" cy="261426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8" name="Straight Connector 2339"/>
            <p:cNvSpPr/>
            <p:nvPr/>
          </p:nvSpPr>
          <p:spPr>
            <a:xfrm flipH="1">
              <a:off x="6816675" y="1932902"/>
              <a:ext cx="1675738" cy="1859693"/>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sp>
          <p:nvSpPr>
            <p:cNvPr id="649" name="Straight Connector 2340"/>
            <p:cNvSpPr/>
            <p:nvPr/>
          </p:nvSpPr>
          <p:spPr>
            <a:xfrm flipH="1">
              <a:off x="6816676" y="2687460"/>
              <a:ext cx="1675737" cy="1105135"/>
            </a:xfrm>
            <a:prstGeom prst="line">
              <a:avLst/>
            </a:prstGeom>
            <a:noFill/>
            <a:ln w="25400" cap="flat">
              <a:solidFill>
                <a:srgbClr val="9999FF">
                  <a:alpha val="50195"/>
                </a:srgbClr>
              </a:solidFill>
              <a:prstDash val="solid"/>
              <a:miter lim="800000"/>
            </a:ln>
            <a:effectLst/>
          </p:spPr>
          <p:txBody>
            <a:bodyPr wrap="square" lIns="91439" tIns="91439" rIns="91439" bIns="91439" numCol="1" anchor="t">
              <a:noAutofit/>
            </a:bodyPr>
            <a:lstStyle/>
            <a:p>
              <a:pPr defTabSz="1828800">
                <a:lnSpc>
                  <a:spcPct val="100000"/>
                </a:lnSpc>
                <a:spcBef>
                  <a:spcPts val="0"/>
                </a:spcBef>
                <a:defRPr sz="3600">
                  <a:latin typeface="Aptos"/>
                  <a:ea typeface="Aptos"/>
                  <a:cs typeface="Aptos"/>
                  <a:sym typeface="Aptos"/>
                </a:defRPr>
              </a:pPr>
            </a:p>
          </p:txBody>
        </p:sp>
      </p:grpSp>
      <p:sp>
        <p:nvSpPr>
          <p:cNvPr id="651" name="TextBox 165"/>
          <p:cNvSpPr txBox="1"/>
          <p:nvPr/>
        </p:nvSpPr>
        <p:spPr>
          <a:xfrm>
            <a:off x="18998503" y="4789008"/>
            <a:ext cx="4497980" cy="9194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1828800">
              <a:lnSpc>
                <a:spcPct val="100000"/>
              </a:lnSpc>
              <a:spcBef>
                <a:spcPts val="0"/>
              </a:spcBef>
              <a:defRPr b="1">
                <a:latin typeface="Aptos"/>
                <a:ea typeface="Aptos"/>
                <a:cs typeface="Aptos"/>
                <a:sym typeface="Aptos"/>
              </a:defRPr>
            </a:lvl1pPr>
          </a:lstStyle>
          <a:p>
            <a:pPr/>
            <a:r>
              <a:t>Actions</a:t>
            </a:r>
          </a:p>
        </p:txBody>
      </p:sp>
      <p:sp>
        <p:nvSpPr>
          <p:cNvPr id="652" name="TextBox 166"/>
          <p:cNvSpPr txBox="1"/>
          <p:nvPr/>
        </p:nvSpPr>
        <p:spPr>
          <a:xfrm>
            <a:off x="1252155" y="4419675"/>
            <a:ext cx="4497980" cy="38658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defTabSz="1828800">
              <a:lnSpc>
                <a:spcPct val="100000"/>
              </a:lnSpc>
              <a:spcBef>
                <a:spcPts val="0"/>
              </a:spcBef>
              <a:defRPr b="1">
                <a:latin typeface="Aptos"/>
                <a:ea typeface="Aptos"/>
                <a:cs typeface="Aptos"/>
                <a:sym typeface="Aptos"/>
              </a:defRPr>
            </a:pPr>
            <a:r>
              <a:t>State variables</a:t>
            </a:r>
          </a:p>
          <a:p>
            <a:pPr defTabSz="1828800">
              <a:lnSpc>
                <a:spcPct val="100000"/>
              </a:lnSpc>
              <a:spcBef>
                <a:spcPts val="0"/>
              </a:spcBef>
              <a:defRPr>
                <a:latin typeface="Aptos"/>
                <a:ea typeface="Aptos"/>
                <a:cs typeface="Aptos"/>
                <a:sym typeface="Aptos"/>
              </a:defRPr>
            </a:pPr>
            <a:r>
              <a:t>1.) Cart position</a:t>
            </a:r>
          </a:p>
          <a:p>
            <a:pPr defTabSz="1828800">
              <a:lnSpc>
                <a:spcPct val="100000"/>
              </a:lnSpc>
              <a:spcBef>
                <a:spcPts val="0"/>
              </a:spcBef>
              <a:defRPr>
                <a:latin typeface="Aptos"/>
                <a:ea typeface="Aptos"/>
                <a:cs typeface="Aptos"/>
                <a:sym typeface="Aptos"/>
              </a:defRPr>
            </a:pPr>
            <a:r>
              <a:t>2.) Cart velocity</a:t>
            </a:r>
          </a:p>
          <a:p>
            <a:pPr defTabSz="1828800">
              <a:lnSpc>
                <a:spcPct val="100000"/>
              </a:lnSpc>
              <a:spcBef>
                <a:spcPts val="0"/>
              </a:spcBef>
              <a:defRPr>
                <a:latin typeface="Aptos"/>
                <a:ea typeface="Aptos"/>
                <a:cs typeface="Aptos"/>
                <a:sym typeface="Aptos"/>
              </a:defRPr>
            </a:pPr>
            <a:r>
              <a:t>3.) Pole Angle</a:t>
            </a:r>
          </a:p>
          <a:p>
            <a:pPr defTabSz="1828800">
              <a:lnSpc>
                <a:spcPct val="100000"/>
              </a:lnSpc>
              <a:spcBef>
                <a:spcPts val="0"/>
              </a:spcBef>
              <a:defRPr>
                <a:latin typeface="Aptos"/>
                <a:ea typeface="Aptos"/>
                <a:cs typeface="Aptos"/>
                <a:sym typeface="Aptos"/>
              </a:defRPr>
            </a:pPr>
            <a:r>
              <a:t>4.) Pole velocity</a:t>
            </a:r>
          </a:p>
        </p:txBody>
      </p:sp>
      <p:sp>
        <p:nvSpPr>
          <p:cNvPr id="653" name="TextBox 167"/>
          <p:cNvSpPr txBox="1"/>
          <p:nvPr/>
        </p:nvSpPr>
        <p:spPr>
          <a:xfrm>
            <a:off x="8769204" y="10776856"/>
            <a:ext cx="7210213" cy="12750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lgn="ctr" defTabSz="1828800">
              <a:lnSpc>
                <a:spcPct val="100000"/>
              </a:lnSpc>
              <a:spcBef>
                <a:spcPts val="0"/>
              </a:spcBef>
              <a:defRPr sz="3600">
                <a:latin typeface="Aptos"/>
                <a:ea typeface="Aptos"/>
                <a:cs typeface="Aptos"/>
                <a:sym typeface="Aptos"/>
              </a:defRPr>
            </a:pPr>
            <a:r>
              <a:t>We use a deep neural network to approximate </a:t>
            </a:r>
            <a:r>
              <a:rPr strike="sngStrike"/>
              <a:t>this Q-function </a:t>
            </a:r>
          </a:p>
        </p:txBody>
      </p:sp>
      <p:sp>
        <p:nvSpPr>
          <p:cNvPr id="654" name="the policy itself"/>
          <p:cNvSpPr txBox="1"/>
          <p:nvPr/>
        </p:nvSpPr>
        <p:spPr>
          <a:xfrm>
            <a:off x="15268656" y="11369074"/>
            <a:ext cx="344239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1828800">
              <a:lnSpc>
                <a:spcPct val="100000"/>
              </a:lnSpc>
              <a:spcBef>
                <a:spcPts val="0"/>
              </a:spcBef>
              <a:defRPr b="1" sz="3600">
                <a:latin typeface="Aptos"/>
                <a:ea typeface="Aptos"/>
                <a:cs typeface="Aptos"/>
                <a:sym typeface="Aptos"/>
              </a:defRPr>
            </a:lvl1pPr>
          </a:lstStyle>
          <a:p>
            <a:pPr>
              <a:defRPr b="0"/>
            </a:pPr>
            <a:r>
              <a:rPr b="1"/>
              <a:t>the policy itself</a:t>
            </a:r>
          </a:p>
        </p:txBody>
      </p:sp>
      <p:sp>
        <p:nvSpPr>
          <p:cNvPr id="655" name="torque joint 1 mean"/>
          <p:cNvSpPr txBox="1"/>
          <p:nvPr/>
        </p:nvSpPr>
        <p:spPr>
          <a:xfrm>
            <a:off x="18437952" y="5754363"/>
            <a:ext cx="5388560"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torque joint 1 mean</a:t>
            </a:r>
          </a:p>
        </p:txBody>
      </p:sp>
      <p:sp>
        <p:nvSpPr>
          <p:cNvPr id="656" name="Slide Number"/>
          <p:cNvSpPr txBox="1"/>
          <p:nvPr>
            <p:ph type="sldNum" sz="quarter" idx="2"/>
          </p:nvPr>
        </p:nvSpPr>
        <p:spPr>
          <a:xfrm>
            <a:off x="11820656" y="13180008"/>
            <a:ext cx="365096"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
        <p:nvSpPr>
          <p:cNvPr id="657" name="Continuous state space, continuous action space"/>
          <p:cNvSpPr txBox="1"/>
          <p:nvPr>
            <p:ph type="title"/>
          </p:nvPr>
        </p:nvSpPr>
        <p:spPr>
          <a:xfrm>
            <a:off x="1055582" y="432709"/>
            <a:ext cx="21971001" cy="1434950"/>
          </a:xfrm>
          <a:prstGeom prst="rect">
            <a:avLst/>
          </a:prstGeom>
        </p:spPr>
        <p:txBody>
          <a:bodyPr lIns="91439" tIns="91439" rIns="91439" bIns="91439" anchor="ctr"/>
          <a:lstStyle>
            <a:lvl1pPr defTabSz="1627632">
              <a:lnSpc>
                <a:spcPct val="90000"/>
              </a:lnSpc>
              <a:defRPr b="0" spc="0" sz="7832">
                <a:latin typeface="Aptos Display"/>
                <a:ea typeface="Aptos Display"/>
                <a:cs typeface="Aptos Display"/>
                <a:sym typeface="Aptos Display"/>
              </a:defRPr>
            </a:lvl1pPr>
          </a:lstStyle>
          <a:p>
            <a:pPr/>
            <a:r>
              <a:t>Continuous state space, continuous action space</a:t>
            </a:r>
          </a:p>
        </p:txBody>
      </p:sp>
      <p:sp>
        <p:nvSpPr>
          <p:cNvPr id="658" name="Line"/>
          <p:cNvSpPr/>
          <p:nvPr/>
        </p:nvSpPr>
        <p:spPr>
          <a:xfrm>
            <a:off x="17442793" y="3941884"/>
            <a:ext cx="1" cy="1275081"/>
          </a:xfrm>
          <a:prstGeom prst="line">
            <a:avLst/>
          </a:prstGeom>
          <a:ln w="63500">
            <a:solidFill>
              <a:srgbClr val="000000"/>
            </a:solidFill>
            <a:miter lim="400000"/>
            <a:tailEnd type="triangle"/>
          </a:ln>
        </p:spPr>
        <p:txBody>
          <a:bodyPr lIns="50800" tIns="50800" rIns="50800" bIns="50800" anchor="ctr"/>
          <a:lstStyle/>
          <a:p>
            <a:pPr/>
          </a:p>
        </p:txBody>
      </p:sp>
      <p:sp>
        <p:nvSpPr>
          <p:cNvPr id="659" name="outputs define a probability distribution over action space"/>
          <p:cNvSpPr txBox="1"/>
          <p:nvPr/>
        </p:nvSpPr>
        <p:spPr>
          <a:xfrm>
            <a:off x="14292671" y="2252665"/>
            <a:ext cx="8351477" cy="14616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outputs define a probability distribution over action space</a:t>
            </a:r>
          </a:p>
        </p:txBody>
      </p:sp>
      <p:sp>
        <p:nvSpPr>
          <p:cNvPr id="660" name="Line"/>
          <p:cNvSpPr/>
          <p:nvPr/>
        </p:nvSpPr>
        <p:spPr>
          <a:xfrm>
            <a:off x="7695459" y="3601121"/>
            <a:ext cx="1" cy="1656605"/>
          </a:xfrm>
          <a:prstGeom prst="line">
            <a:avLst/>
          </a:prstGeom>
          <a:ln w="63500">
            <a:solidFill>
              <a:srgbClr val="000000"/>
            </a:solidFill>
            <a:miter lim="400000"/>
            <a:tailEnd type="triangle"/>
          </a:ln>
        </p:spPr>
        <p:txBody>
          <a:bodyPr lIns="50800" tIns="50800" rIns="50800" bIns="50800" anchor="ctr"/>
          <a:lstStyle/>
          <a:p>
            <a:pPr/>
          </a:p>
        </p:txBody>
      </p:sp>
      <p:sp>
        <p:nvSpPr>
          <p:cNvPr id="661" name="input is 4D state"/>
          <p:cNvSpPr txBox="1"/>
          <p:nvPr/>
        </p:nvSpPr>
        <p:spPr>
          <a:xfrm>
            <a:off x="4545337" y="2620035"/>
            <a:ext cx="7073728" cy="8084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a:lstStyle>
          <a:p>
            <a:pPr/>
            <a:r>
              <a:t>input is 4D state</a:t>
            </a:r>
          </a:p>
        </p:txBody>
      </p:sp>
      <p:sp>
        <p:nvSpPr>
          <p:cNvPr id="662" name="torque joint 2 mean"/>
          <p:cNvSpPr txBox="1"/>
          <p:nvPr/>
        </p:nvSpPr>
        <p:spPr>
          <a:xfrm>
            <a:off x="18436311" y="7501634"/>
            <a:ext cx="5388560" cy="8084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torque joint 2 mean</a:t>
            </a:r>
          </a:p>
        </p:txBody>
      </p:sp>
      <p:sp>
        <p:nvSpPr>
          <p:cNvPr id="663" name="torque joint 1 std"/>
          <p:cNvSpPr txBox="1"/>
          <p:nvPr/>
        </p:nvSpPr>
        <p:spPr>
          <a:xfrm>
            <a:off x="18436311" y="6627998"/>
            <a:ext cx="4733240" cy="8084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torque joint 1 std</a:t>
            </a:r>
          </a:p>
        </p:txBody>
      </p:sp>
      <p:sp>
        <p:nvSpPr>
          <p:cNvPr id="664" name="…"/>
          <p:cNvSpPr txBox="1"/>
          <p:nvPr/>
        </p:nvSpPr>
        <p:spPr>
          <a:xfrm>
            <a:off x="18436311" y="8375270"/>
            <a:ext cx="723901"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8" name="Jensen, 2024 arXiv. An introduction to reinforcement learning for neuroscience"/>
          <p:cNvSpPr txBox="1"/>
          <p:nvPr/>
        </p:nvSpPr>
        <p:spPr>
          <a:xfrm>
            <a:off x="10594398" y="12976743"/>
            <a:ext cx="13570937" cy="5481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r">
              <a:defRPr sz="3000"/>
            </a:lvl1pPr>
          </a:lstStyle>
          <a:p>
            <a:pPr/>
            <a:r>
              <a:t>Jensen, 2024 arXiv. An introduction to reinforcement learning for neuroscience</a:t>
            </a:r>
          </a:p>
        </p:txBody>
      </p:sp>
      <p:grpSp>
        <p:nvGrpSpPr>
          <p:cNvPr id="674" name="Group"/>
          <p:cNvGrpSpPr/>
          <p:nvPr/>
        </p:nvGrpSpPr>
        <p:grpSpPr>
          <a:xfrm>
            <a:off x="849044" y="752203"/>
            <a:ext cx="13730985" cy="11506865"/>
            <a:chOff x="-244635" y="0"/>
            <a:chExt cx="13730983" cy="11506863"/>
          </a:xfrm>
        </p:grpSpPr>
        <p:sp>
          <p:nvSpPr>
            <p:cNvPr id="669" name="Rectangle"/>
            <p:cNvSpPr/>
            <p:nvPr/>
          </p:nvSpPr>
          <p:spPr>
            <a:xfrm>
              <a:off x="-244636" y="4511874"/>
              <a:ext cx="13730985" cy="3497852"/>
            </a:xfrm>
            <a:prstGeom prst="rect">
              <a:avLst/>
            </a:prstGeom>
            <a:noFill/>
            <a:ln w="152400" cap="flat">
              <a:solidFill>
                <a:schemeClr val="accent1">
                  <a:lumOff val="-13575"/>
                </a:schemeClr>
              </a:solidFill>
              <a:prstDash val="solid"/>
              <a:miter lim="400000"/>
            </a:ln>
            <a:effectLst/>
          </p:spPr>
          <p:txBody>
            <a:bodyPr wrap="square" lIns="50800" tIns="50800" rIns="50800" bIns="50800" numCol="1" anchor="ctr">
              <a:noAutofit/>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pic>
          <p:nvPicPr>
            <p:cNvPr id="670" name="Screenshot 2026-03-27 at 15.40.49.png" descr="Screenshot 2026-03-27 at 15.40.49.png"/>
            <p:cNvPicPr>
              <a:picLocks noChangeAspect="1"/>
            </p:cNvPicPr>
            <p:nvPr/>
          </p:nvPicPr>
          <p:blipFill>
            <a:blip r:embed="rId3">
              <a:extLst/>
            </a:blip>
            <a:stretch>
              <a:fillRect/>
            </a:stretch>
          </p:blipFill>
          <p:spPr>
            <a:xfrm>
              <a:off x="1216097" y="0"/>
              <a:ext cx="5396798" cy="1929868"/>
            </a:xfrm>
            <a:prstGeom prst="rect">
              <a:avLst/>
            </a:prstGeom>
            <a:ln w="12700" cap="flat">
              <a:noFill/>
              <a:miter lim="400000"/>
            </a:ln>
            <a:effectLst/>
          </p:spPr>
        </p:pic>
        <p:pic>
          <p:nvPicPr>
            <p:cNvPr id="671" name="Screenshot 2026-03-27 at 15.41.04.png" descr="Screenshot 2026-03-27 at 15.41.04.png"/>
            <p:cNvPicPr>
              <a:picLocks noChangeAspect="1"/>
            </p:cNvPicPr>
            <p:nvPr/>
          </p:nvPicPr>
          <p:blipFill>
            <a:blip r:embed="rId4">
              <a:extLst/>
            </a:blip>
            <a:srcRect l="0" t="36128" r="0" b="0"/>
            <a:stretch>
              <a:fillRect/>
            </a:stretch>
          </p:blipFill>
          <p:spPr>
            <a:xfrm>
              <a:off x="1144425" y="2027672"/>
              <a:ext cx="7497450" cy="2230733"/>
            </a:xfrm>
            <a:prstGeom prst="rect">
              <a:avLst/>
            </a:prstGeom>
            <a:ln w="12700" cap="flat">
              <a:noFill/>
              <a:miter lim="400000"/>
            </a:ln>
            <a:effectLst/>
          </p:spPr>
        </p:pic>
        <p:pic>
          <p:nvPicPr>
            <p:cNvPr id="672" name="Screenshot 2026-03-27 at 15.41.20.png" descr="Screenshot 2026-03-27 at 15.41.20.png"/>
            <p:cNvPicPr>
              <a:picLocks noChangeAspect="1"/>
            </p:cNvPicPr>
            <p:nvPr/>
          </p:nvPicPr>
          <p:blipFill>
            <a:blip r:embed="rId5">
              <a:extLst/>
            </a:blip>
            <a:stretch>
              <a:fillRect/>
            </a:stretch>
          </p:blipFill>
          <p:spPr>
            <a:xfrm>
              <a:off x="0" y="4648186"/>
              <a:ext cx="13107728" cy="3219293"/>
            </a:xfrm>
            <a:prstGeom prst="rect">
              <a:avLst/>
            </a:prstGeom>
            <a:ln w="12700" cap="flat">
              <a:noFill/>
              <a:miter lim="400000"/>
            </a:ln>
            <a:effectLst/>
          </p:spPr>
        </p:pic>
        <p:pic>
          <p:nvPicPr>
            <p:cNvPr id="673" name="Screenshot 2026-03-27 at 15.41.35.png" descr="Screenshot 2026-03-27 at 15.41.35.png"/>
            <p:cNvPicPr>
              <a:picLocks noChangeAspect="1"/>
            </p:cNvPicPr>
            <p:nvPr/>
          </p:nvPicPr>
          <p:blipFill>
            <a:blip r:embed="rId6">
              <a:extLst/>
            </a:blip>
            <a:stretch>
              <a:fillRect/>
            </a:stretch>
          </p:blipFill>
          <p:spPr>
            <a:xfrm>
              <a:off x="1117980" y="8253414"/>
              <a:ext cx="10230005" cy="3253450"/>
            </a:xfrm>
            <a:prstGeom prst="rect">
              <a:avLst/>
            </a:prstGeom>
            <a:ln w="12700" cap="flat">
              <a:noFill/>
              <a:miter lim="400000"/>
            </a:ln>
            <a:effectLst/>
          </p:spPr>
        </p:pic>
      </p:grpSp>
      <p:sp>
        <p:nvSpPr>
          <p:cNvPr id="675" name="J(theta) = total reward for this stationary environment under policy pi with parameters theta…"/>
          <p:cNvSpPr txBox="1"/>
          <p:nvPr/>
        </p:nvSpPr>
        <p:spPr>
          <a:xfrm>
            <a:off x="14654698" y="692906"/>
            <a:ext cx="9381631" cy="43253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defRPr sz="3000"/>
            </a:pPr>
            <a:r>
              <a:t>J(theta) = total reward for this stationary environment under policy pi with parameters theta</a:t>
            </a:r>
          </a:p>
          <a:p>
            <a:pPr>
              <a:defRPr sz="3000"/>
            </a:pPr>
            <a:r>
              <a:t>Gradient with respect to the parameters theta</a:t>
            </a:r>
          </a:p>
          <a:p>
            <a:pPr>
              <a:defRPr sz="3000"/>
            </a:pPr>
            <a:r>
              <a:t>Tau (trajectory through environment) drawn from the distribution of trajectories possible under policy pi</a:t>
            </a:r>
          </a:p>
        </p:txBody>
      </p:sp>
      <p:pic>
        <p:nvPicPr>
          <p:cNvPr id="676" name="Screenshot 2026-03-27 at 15.56.23.png" descr="Screenshot 2026-03-27 at 15.56.23.png"/>
          <p:cNvPicPr>
            <a:picLocks noChangeAspect="1"/>
          </p:cNvPicPr>
          <p:nvPr/>
        </p:nvPicPr>
        <p:blipFill>
          <a:blip r:embed="rId7">
            <a:extLst/>
          </a:blip>
          <a:stretch>
            <a:fillRect/>
          </a:stretch>
        </p:blipFill>
        <p:spPr>
          <a:xfrm>
            <a:off x="9984661" y="601381"/>
            <a:ext cx="3097656" cy="894879"/>
          </a:xfrm>
          <a:prstGeom prst="rect">
            <a:avLst/>
          </a:prstGeom>
          <a:ln w="12700">
            <a:miter lim="400000"/>
          </a:ln>
        </p:spPr>
      </p:pic>
      <p:sp>
        <p:nvSpPr>
          <p:cNvPr id="677" name="where"/>
          <p:cNvSpPr txBox="1"/>
          <p:nvPr/>
        </p:nvSpPr>
        <p:spPr>
          <a:xfrm>
            <a:off x="8640035" y="774754"/>
            <a:ext cx="1388300" cy="5481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lvl1pPr>
          </a:lstStyle>
          <a:p>
            <a:pPr/>
            <a:r>
              <a:t>where</a:t>
            </a:r>
          </a:p>
        </p:txBody>
      </p:sp>
      <p:sp>
        <p:nvSpPr>
          <p:cNvPr id="678" name="Probability of a trajectory depends on environment as well as the policy…"/>
          <p:cNvSpPr txBox="1"/>
          <p:nvPr/>
        </p:nvSpPr>
        <p:spPr>
          <a:xfrm>
            <a:off x="15262719" y="5885637"/>
            <a:ext cx="8673945" cy="235727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defRPr sz="3000"/>
            </a:pPr>
            <a:r>
              <a:t>Probability of a trajectory depends on environment as well as the policy</a:t>
            </a:r>
          </a:p>
          <a:p>
            <a:pPr>
              <a:defRPr sz="3000"/>
            </a:pPr>
            <a:r>
              <a:t>Simplify, since environment does not depend on parameters theta</a:t>
            </a:r>
          </a:p>
        </p:txBody>
      </p:sp>
      <p:sp>
        <p:nvSpPr>
          <p:cNvPr id="679" name="For stochastic policies, log-likelihood of action probabilities given the state…"/>
          <p:cNvSpPr txBox="1"/>
          <p:nvPr/>
        </p:nvSpPr>
        <p:spPr>
          <a:xfrm>
            <a:off x="14636281" y="9625287"/>
            <a:ext cx="9216994" cy="27698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defRPr sz="3000"/>
            </a:pPr>
            <a:r>
              <a:t>For stochastic policies, log-likelihood of action probabilities given the state</a:t>
            </a:r>
          </a:p>
          <a:p>
            <a:pPr>
              <a:defRPr sz="3000"/>
            </a:pPr>
            <a:r>
              <a:t>REINFORCE algorithm: change probability of actions-given-states in the direction that maximally increases total reward</a:t>
            </a:r>
          </a:p>
        </p:txBody>
      </p:sp>
      <p:sp>
        <p:nvSpPr>
          <p:cNvPr id="680"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grpSp>
        <p:nvGrpSpPr>
          <p:cNvPr id="691" name="Group"/>
          <p:cNvGrpSpPr/>
          <p:nvPr/>
        </p:nvGrpSpPr>
        <p:grpSpPr>
          <a:xfrm>
            <a:off x="3839117" y="2781452"/>
            <a:ext cx="9811891" cy="8153096"/>
            <a:chOff x="0" y="0"/>
            <a:chExt cx="9811889" cy="8153094"/>
          </a:xfrm>
        </p:grpSpPr>
        <p:sp>
          <p:nvSpPr>
            <p:cNvPr id="684" name="Line"/>
            <p:cNvSpPr/>
            <p:nvPr/>
          </p:nvSpPr>
          <p:spPr>
            <a:xfrm flipV="1">
              <a:off x="1449768" y="4912155"/>
              <a:ext cx="5126001" cy="2823882"/>
            </a:xfrm>
            <a:prstGeom prst="line">
              <a:avLst/>
            </a:prstGeom>
            <a:noFill/>
            <a:ln w="76200" cap="flat">
              <a:solidFill>
                <a:srgbClr val="000000"/>
              </a:solidFill>
              <a:prstDash val="solid"/>
              <a:miter lim="400000"/>
              <a:tailEnd type="triangle" w="med" len="med"/>
            </a:ln>
            <a:effectLst/>
          </p:spPr>
          <p:txBody>
            <a:bodyPr wrap="square" lIns="50800" tIns="50800" rIns="50800" bIns="50800" numCol="1" anchor="ctr">
              <a:noAutofit/>
            </a:bodyPr>
            <a:lstStyle/>
            <a:p>
              <a:pPr/>
            </a:p>
          </p:txBody>
        </p:sp>
        <p:sp>
          <p:nvSpPr>
            <p:cNvPr id="685" name="action"/>
            <p:cNvSpPr txBox="1"/>
            <p:nvPr/>
          </p:nvSpPr>
          <p:spPr>
            <a:xfrm>
              <a:off x="6674492" y="4139697"/>
              <a:ext cx="1785215"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action</a:t>
              </a:r>
            </a:p>
          </p:txBody>
        </p:sp>
        <p:sp>
          <p:nvSpPr>
            <p:cNvPr id="686" name="state"/>
            <p:cNvSpPr txBox="1"/>
            <p:nvPr/>
          </p:nvSpPr>
          <p:spPr>
            <a:xfrm>
              <a:off x="8354031" y="7344663"/>
              <a:ext cx="1457859"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state</a:t>
              </a:r>
            </a:p>
          </p:txBody>
        </p:sp>
        <p:sp>
          <p:nvSpPr>
            <p:cNvPr id="687" name="Line"/>
            <p:cNvSpPr/>
            <p:nvPr/>
          </p:nvSpPr>
          <p:spPr>
            <a:xfrm>
              <a:off x="1439779" y="7748878"/>
              <a:ext cx="6632877" cy="1"/>
            </a:xfrm>
            <a:prstGeom prst="line">
              <a:avLst/>
            </a:prstGeom>
            <a:noFill/>
            <a:ln w="76200" cap="flat">
              <a:solidFill>
                <a:srgbClr val="000000"/>
              </a:solidFill>
              <a:prstDash val="solid"/>
              <a:miter lim="400000"/>
              <a:tailEnd type="triangle" w="med" len="med"/>
            </a:ln>
            <a:effectLst/>
          </p:spPr>
          <p:txBody>
            <a:bodyPr wrap="square" lIns="50800" tIns="50800" rIns="50800" bIns="50800" numCol="1" anchor="ctr">
              <a:noAutofit/>
            </a:bodyPr>
            <a:lstStyle/>
            <a:p>
              <a:pPr/>
            </a:p>
          </p:txBody>
        </p:sp>
        <p:sp>
          <p:nvSpPr>
            <p:cNvPr id="688" name="Line"/>
            <p:cNvSpPr/>
            <p:nvPr/>
          </p:nvSpPr>
          <p:spPr>
            <a:xfrm flipV="1">
              <a:off x="1485442" y="858646"/>
              <a:ext cx="1" cy="6844570"/>
            </a:xfrm>
            <a:prstGeom prst="line">
              <a:avLst/>
            </a:prstGeom>
            <a:noFill/>
            <a:ln w="76200" cap="flat">
              <a:solidFill>
                <a:srgbClr val="000000"/>
              </a:solidFill>
              <a:prstDash val="solid"/>
              <a:miter lim="400000"/>
              <a:tailEnd type="triangle" w="med" len="med"/>
            </a:ln>
            <a:effectLst/>
          </p:spPr>
          <p:txBody>
            <a:bodyPr wrap="square" lIns="50800" tIns="50800" rIns="50800" bIns="50800" numCol="1" anchor="ctr">
              <a:noAutofit/>
            </a:bodyPr>
            <a:lstStyle/>
            <a:p>
              <a:pPr/>
            </a:p>
          </p:txBody>
        </p:sp>
        <p:sp>
          <p:nvSpPr>
            <p:cNvPr id="689" name="probability"/>
            <p:cNvSpPr txBox="1"/>
            <p:nvPr/>
          </p:nvSpPr>
          <p:spPr>
            <a:xfrm>
              <a:off x="0" y="0"/>
              <a:ext cx="2970886"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probability</a:t>
              </a:r>
            </a:p>
          </p:txBody>
        </p:sp>
        <p:sp>
          <p:nvSpPr>
            <p:cNvPr id="690" name="Shape"/>
            <p:cNvSpPr/>
            <p:nvPr/>
          </p:nvSpPr>
          <p:spPr>
            <a:xfrm>
              <a:off x="837396" y="436552"/>
              <a:ext cx="8192047" cy="4618440"/>
            </a:xfrm>
            <a:custGeom>
              <a:avLst/>
              <a:gdLst/>
              <a:ahLst/>
              <a:cxnLst>
                <a:cxn ang="0">
                  <a:pos x="wd2" y="hd2"/>
                </a:cxn>
                <a:cxn ang="5400000">
                  <a:pos x="wd2" y="hd2"/>
                </a:cxn>
                <a:cxn ang="10800000">
                  <a:pos x="wd2" y="hd2"/>
                </a:cxn>
                <a:cxn ang="16200000">
                  <a:pos x="wd2" y="hd2"/>
                </a:cxn>
              </a:cxnLst>
              <a:rect l="0" t="0" r="r" b="b"/>
              <a:pathLst>
                <a:path w="21600" h="21536" fill="norm" stroke="1" extrusionOk="0">
                  <a:moveTo>
                    <a:pt x="0" y="21536"/>
                  </a:moveTo>
                  <a:cubicBezTo>
                    <a:pt x="792" y="19121"/>
                    <a:pt x="1820" y="17167"/>
                    <a:pt x="3000" y="15832"/>
                  </a:cubicBezTo>
                  <a:cubicBezTo>
                    <a:pt x="4107" y="14581"/>
                    <a:pt x="5321" y="13906"/>
                    <a:pt x="6420" y="12624"/>
                  </a:cubicBezTo>
                  <a:cubicBezTo>
                    <a:pt x="7385" y="11499"/>
                    <a:pt x="8239" y="9933"/>
                    <a:pt x="8909" y="7987"/>
                  </a:cubicBezTo>
                  <a:cubicBezTo>
                    <a:pt x="9514" y="6228"/>
                    <a:pt x="9953" y="4197"/>
                    <a:pt x="10198" y="2022"/>
                  </a:cubicBezTo>
                  <a:cubicBezTo>
                    <a:pt x="10801" y="759"/>
                    <a:pt x="11583" y="40"/>
                    <a:pt x="12399" y="2"/>
                  </a:cubicBezTo>
                  <a:cubicBezTo>
                    <a:pt x="13794" y="-64"/>
                    <a:pt x="15012" y="1788"/>
                    <a:pt x="16317" y="2755"/>
                  </a:cubicBezTo>
                  <a:cubicBezTo>
                    <a:pt x="18051" y="4041"/>
                    <a:pt x="19936" y="3794"/>
                    <a:pt x="21600" y="2041"/>
                  </a:cubicBezTo>
                  <a:cubicBezTo>
                    <a:pt x="21435" y="3730"/>
                    <a:pt x="21117" y="5318"/>
                    <a:pt x="20667" y="6703"/>
                  </a:cubicBezTo>
                  <a:cubicBezTo>
                    <a:pt x="20089" y="8477"/>
                    <a:pt x="19319" y="9851"/>
                    <a:pt x="18487" y="10972"/>
                  </a:cubicBezTo>
                  <a:cubicBezTo>
                    <a:pt x="17455" y="12362"/>
                    <a:pt x="16329" y="13367"/>
                    <a:pt x="15330" y="14883"/>
                  </a:cubicBezTo>
                  <a:cubicBezTo>
                    <a:pt x="14340" y="16386"/>
                    <a:pt x="13499" y="18353"/>
                    <a:pt x="12862" y="20655"/>
                  </a:cubicBezTo>
                  <a:cubicBezTo>
                    <a:pt x="10810" y="19793"/>
                    <a:pt x="8725" y="19413"/>
                    <a:pt x="6639" y="19520"/>
                  </a:cubicBezTo>
                  <a:cubicBezTo>
                    <a:pt x="4401" y="19635"/>
                    <a:pt x="2175" y="20311"/>
                    <a:pt x="0" y="21536"/>
                  </a:cubicBezTo>
                  <a:close/>
                </a:path>
              </a:pathLst>
            </a:custGeom>
            <a:noFill/>
            <a:ln w="25400" cap="flat">
              <a:solidFill>
                <a:srgbClr val="000000"/>
              </a:solidFill>
              <a:prstDash val="solid"/>
              <a:miter lim="400000"/>
            </a:ln>
            <a:effectLst/>
          </p:spPr>
          <p:txBody>
            <a:bodyPr wrap="square" lIns="50800" tIns="50800" rIns="50800" bIns="50800" numCol="1" anchor="ctr">
              <a:noAutofit/>
            </a:bodyPr>
            <a:lstStyle/>
            <a:p>
              <a:pPr/>
            </a:p>
          </p:txBody>
        </p:sp>
      </p:grpSp>
      <p:sp>
        <p:nvSpPr>
          <p:cNvPr id="692" name="Policy gradient defines changes to this surface to maximise reward over all trajectories"/>
          <p:cNvSpPr txBox="1"/>
          <p:nvPr/>
        </p:nvSpPr>
        <p:spPr>
          <a:xfrm>
            <a:off x="15235512" y="5111407"/>
            <a:ext cx="7737701" cy="21305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457200">
              <a:lnSpc>
                <a:spcPct val="117999"/>
              </a:lnSpc>
              <a:spcBef>
                <a:spcPts val="0"/>
              </a:spcBef>
              <a:defRPr sz="4000"/>
            </a:lvl1pPr>
          </a:lstStyle>
          <a:p>
            <a:pPr/>
            <a:r>
              <a:t>Policy gradient defines changes to this surface to maximise reward over all trajectories</a:t>
            </a:r>
          </a:p>
        </p:txBody>
      </p:sp>
      <p:sp>
        <p:nvSpPr>
          <p:cNvPr id="693" name="Example: 1 dimensional state, 1 dimensional action"/>
          <p:cNvSpPr txBox="1"/>
          <p:nvPr/>
        </p:nvSpPr>
        <p:spPr>
          <a:xfrm>
            <a:off x="925668" y="934505"/>
            <a:ext cx="14071703" cy="8084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Example: 1 dimensional state, 1 dimensional action</a:t>
            </a:r>
          </a:p>
        </p:txBody>
      </p:sp>
      <p:sp>
        <p:nvSpPr>
          <p:cNvPr id="694" name="Slide Number"/>
          <p:cNvSpPr txBox="1"/>
          <p:nvPr>
            <p:ph type="sldNum" sz="quarter" idx="2"/>
          </p:nvPr>
        </p:nvSpPr>
        <p:spPr>
          <a:xfrm>
            <a:off x="12058764" y="13080999"/>
            <a:ext cx="253975"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pic>
        <p:nvPicPr>
          <p:cNvPr id="696" name="Picture 2" descr="Picture 2"/>
          <p:cNvPicPr>
            <a:picLocks noChangeAspect="1"/>
          </p:cNvPicPr>
          <p:nvPr/>
        </p:nvPicPr>
        <p:blipFill>
          <a:blip r:embed="rId2">
            <a:extLst/>
          </a:blip>
          <a:stretch>
            <a:fillRect/>
          </a:stretch>
        </p:blipFill>
        <p:spPr>
          <a:xfrm>
            <a:off x="1574834" y="1167504"/>
            <a:ext cx="21234332" cy="11380990"/>
          </a:xfrm>
          <a:prstGeom prst="rect">
            <a:avLst/>
          </a:prstGeom>
          <a:ln w="12700">
            <a:miter lim="400000"/>
          </a:ln>
        </p:spPr>
      </p:pic>
      <p:sp>
        <p:nvSpPr>
          <p:cNvPr id="697" name="Slide Number"/>
          <p:cNvSpPr txBox="1"/>
          <p:nvPr>
            <p:ph type="sldNum" sz="quarter" idx="2"/>
          </p:nvPr>
        </p:nvSpPr>
        <p:spPr>
          <a:xfrm>
            <a:off x="22308720" y="12802235"/>
            <a:ext cx="398880" cy="551181"/>
          </a:xfrm>
          <a:prstGeom prst="rect">
            <a:avLst/>
          </a:prstGeom>
          <a:extLst>
            <a:ext uri="{C572A759-6A51-4108-AA02-DFA0A04FC94B}">
              <ma14:wrappingTextBoxFlag xmlns:ma14="http://schemas.microsoft.com/office/mac/drawingml/2011/main" val="1"/>
            </a:ext>
          </a:extLst>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99" name="Screenshot 2026-03-27 at 16.14.15.png" descr="Screenshot 2026-03-27 at 16.14.15.png"/>
          <p:cNvPicPr>
            <a:picLocks noChangeAspect="1"/>
          </p:cNvPicPr>
          <p:nvPr/>
        </p:nvPicPr>
        <p:blipFill>
          <a:blip r:embed="rId2">
            <a:extLst/>
          </a:blip>
          <a:stretch>
            <a:fillRect/>
          </a:stretch>
        </p:blipFill>
        <p:spPr>
          <a:xfrm>
            <a:off x="1151419" y="962328"/>
            <a:ext cx="17448711" cy="10342974"/>
          </a:xfrm>
          <a:prstGeom prst="rect">
            <a:avLst/>
          </a:prstGeom>
          <a:ln w="12700">
            <a:miter lim="400000"/>
          </a:ln>
        </p:spPr>
      </p:pic>
      <p:sp>
        <p:nvSpPr>
          <p:cNvPr id="700" name="Schulman et al., 2016. ICLR. High-Dimensional Continuous Control Using Generalized Advantage Estimation…"/>
          <p:cNvSpPr txBox="1"/>
          <p:nvPr/>
        </p:nvSpPr>
        <p:spPr>
          <a:xfrm>
            <a:off x="5402739" y="12706970"/>
            <a:ext cx="18762597" cy="10876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r">
              <a:spcBef>
                <a:spcPts val="1000"/>
              </a:spcBef>
              <a:defRPr sz="3000"/>
            </a:pPr>
            <a:r>
              <a:t>Schulman et al., 2016. ICLR. High-Dimensional Continuous Control Using Generalized Advantage Estimation</a:t>
            </a:r>
          </a:p>
          <a:p>
            <a:pPr algn="r">
              <a:spcBef>
                <a:spcPts val="1000"/>
              </a:spcBef>
              <a:defRPr sz="3000"/>
            </a:pPr>
            <a:r>
              <a:t>…which I found via </a:t>
            </a:r>
            <a:r>
              <a:rPr u="sng">
                <a:hlinkClick r:id="rId3" invalidUrl="" action="" tgtFrame="" tooltip="" history="1" highlightClick="0" endSnd="0"/>
              </a:rPr>
              <a:t>https://lilianweng.github.io/posts/2018-04-08-policy-gradient/</a:t>
            </a:r>
          </a:p>
        </p:txBody>
      </p:sp>
      <p:sp>
        <p:nvSpPr>
          <p:cNvPr id="701"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3" name="Applications in robotics and physics simulations"/>
          <p:cNvSpPr txBox="1"/>
          <p:nvPr>
            <p:ph type="title"/>
          </p:nvPr>
        </p:nvSpPr>
        <p:spPr>
          <a:prstGeom prst="rect">
            <a:avLst/>
          </a:prstGeom>
        </p:spPr>
        <p:txBody>
          <a:bodyPr/>
          <a:lstStyle>
            <a:lvl1pPr defTabSz="2218888">
              <a:defRPr spc="-154" sz="7735"/>
            </a:lvl1pPr>
          </a:lstStyle>
          <a:p>
            <a:pPr/>
            <a:r>
              <a:t>Applications in robotics and physics simulations</a:t>
            </a:r>
          </a:p>
        </p:txBody>
      </p:sp>
      <p:sp>
        <p:nvSpPr>
          <p:cNvPr id="704" name="Slide Subtitle"/>
          <p:cNvSpPr txBox="1"/>
          <p:nvPr>
            <p:ph type="body" idx="21"/>
          </p:nvPr>
        </p:nvSpPr>
        <p:spPr>
          <a:prstGeom prst="rect">
            <a:avLst/>
          </a:prstGeom>
        </p:spPr>
        <p:txBody>
          <a:bodyPr/>
          <a:lstStyle/>
          <a:p>
            <a:pPr/>
          </a:p>
        </p:txBody>
      </p:sp>
      <p:sp>
        <p:nvSpPr>
          <p:cNvPr id="705" name="https://openai.com/index/learning-dexterity/…"/>
          <p:cNvSpPr txBox="1"/>
          <p:nvPr>
            <p:ph type="body" idx="1"/>
          </p:nvPr>
        </p:nvSpPr>
        <p:spPr>
          <a:prstGeom prst="rect">
            <a:avLst/>
          </a:prstGeom>
        </p:spPr>
        <p:txBody>
          <a:bodyPr/>
          <a:lstStyle/>
          <a:p>
            <a:pPr/>
            <a:r>
              <a:rPr u="sng">
                <a:hlinkClick r:id="rId3" invalidUrl="" action="" tgtFrame="" tooltip="" history="1" highlightClick="0" endSnd="0"/>
              </a:rPr>
              <a:t>https://openai.com/index/learning-dexterity/</a:t>
            </a:r>
            <a:r>
              <a:t> </a:t>
            </a:r>
          </a:p>
          <a:p>
            <a:pPr/>
          </a:p>
          <a:p>
            <a:pPr/>
            <a:r>
              <a:rPr u="sng">
                <a:hlinkClick r:id="rId4" invalidUrl="" action="" tgtFrame="" tooltip="" history="1" highlightClick="0" endSnd="0"/>
              </a:rPr>
              <a:t>https://gymnasium.farama.org/environments/mujoco/</a:t>
            </a:r>
            <a:r>
              <a:t> </a:t>
            </a:r>
          </a:p>
        </p:txBody>
      </p:sp>
      <p:sp>
        <p:nvSpPr>
          <p:cNvPr id="70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0" name="Human and animal behavior compatible with policy-gradient RL"/>
          <p:cNvSpPr txBox="1"/>
          <p:nvPr>
            <p:ph type="title"/>
          </p:nvPr>
        </p:nvSpPr>
        <p:spPr>
          <a:prstGeom prst="rect">
            <a:avLst/>
          </a:prstGeom>
        </p:spPr>
        <p:txBody>
          <a:bodyPr/>
          <a:lstStyle>
            <a:lvl1pPr defTabSz="1682453">
              <a:defRPr spc="-117" sz="5865"/>
            </a:lvl1pPr>
          </a:lstStyle>
          <a:p>
            <a:pPr/>
            <a:r>
              <a:t>Human and animal behavior compatible with policy-gradient RL</a:t>
            </a:r>
          </a:p>
        </p:txBody>
      </p:sp>
      <p:sp>
        <p:nvSpPr>
          <p:cNvPr id="711" name="Slide Subtitle"/>
          <p:cNvSpPr txBox="1"/>
          <p:nvPr>
            <p:ph type="body" idx="21"/>
          </p:nvPr>
        </p:nvSpPr>
        <p:spPr>
          <a:prstGeom prst="rect">
            <a:avLst/>
          </a:prstGeom>
        </p:spPr>
        <p:txBody>
          <a:bodyPr/>
          <a:lstStyle/>
          <a:p>
            <a:pPr/>
          </a:p>
        </p:txBody>
      </p:sp>
      <p:sp>
        <p:nvSpPr>
          <p:cNvPr id="712" name="Bennet, Niv, and Langdon, 2021. COIBS. Value-free reinforcement learning: policy optimization as a minimal model of operant behavior. https://doi.org/10.1016/j.cobeha.2021.04.020…"/>
          <p:cNvSpPr txBox="1"/>
          <p:nvPr>
            <p:ph type="body" idx="1"/>
          </p:nvPr>
        </p:nvSpPr>
        <p:spPr>
          <a:prstGeom prst="rect">
            <a:avLst/>
          </a:prstGeom>
        </p:spPr>
        <p:txBody>
          <a:bodyPr/>
          <a:lstStyle/>
          <a:p>
            <a:pPr marL="0" indent="0" defTabSz="2218888">
              <a:spcBef>
                <a:spcPts val="4000"/>
              </a:spcBef>
              <a:buSzTx/>
              <a:buNone/>
              <a:defRPr sz="4368"/>
            </a:pPr>
            <a:r>
              <a:rPr b="1"/>
              <a:t>Bennet, Niv, and Langdon, 2021.</a:t>
            </a:r>
            <a:r>
              <a:t> COIBS. </a:t>
            </a:r>
            <a:r>
              <a:rPr i="1"/>
              <a:t>Value-free reinforcement learning: policy optimization as a minimal model of operant behavior. </a:t>
            </a:r>
            <a:r>
              <a:rPr u="sng">
                <a:hlinkClick r:id="rId3" invalidUrl="" action="" tgtFrame="" tooltip="" history="1" highlightClick="0" endSnd="0"/>
              </a:rPr>
              <a:t>https://doi.org/10.1016/j.cobeha.2021.04.020</a:t>
            </a:r>
          </a:p>
          <a:p>
            <a:pPr lvl="1" marL="1109472" indent="-554736" defTabSz="2218888">
              <a:spcBef>
                <a:spcPts val="4000"/>
              </a:spcBef>
              <a:defRPr sz="4368"/>
            </a:pPr>
            <a:r>
              <a:t>Context-dependent preference learning (?)</a:t>
            </a:r>
          </a:p>
          <a:p>
            <a:pPr lvl="1" marL="1109472" indent="-554736" defTabSz="2218888">
              <a:spcBef>
                <a:spcPts val="4000"/>
              </a:spcBef>
              <a:defRPr sz="4368"/>
            </a:pPr>
            <a:r>
              <a:t>Continuous-action learning</a:t>
            </a:r>
          </a:p>
          <a:p>
            <a:pPr marL="554736" indent="-554736" defTabSz="2218888">
              <a:spcBef>
                <a:spcPts val="4000"/>
              </a:spcBef>
              <a:defRPr sz="4368"/>
            </a:pPr>
            <a:r>
              <a:rPr b="1"/>
              <a:t>Gideah and Pillow, 2025.</a:t>
            </a:r>
            <a:r>
              <a:t> arXiv. </a:t>
            </a:r>
            <a:r>
              <a:rPr i="1"/>
              <a:t>Inferring learning rules during de novo task learning. </a:t>
            </a:r>
            <a:br>
              <a:rPr i="1"/>
            </a:br>
            <a:r>
              <a:rPr u="sng">
                <a:hlinkClick r:id="rId4" invalidUrl="" action="" tgtFrame="" tooltip="" history="1" highlightClick="0" endSnd="0"/>
              </a:rPr>
              <a:t>https://doi.org/10.1101/2025.09.29.679295</a:t>
            </a:r>
            <a:r>
              <a:rPr i="1"/>
              <a:t> </a:t>
            </a:r>
            <a:endParaRPr i="1"/>
          </a:p>
          <a:p>
            <a:pPr marL="554736" indent="-554736" defTabSz="2218888">
              <a:spcBef>
                <a:spcPts val="4000"/>
              </a:spcBef>
              <a:defRPr sz="4368"/>
            </a:pPr>
            <a:r>
              <a:rPr b="1"/>
              <a:t>Ashwood et al., 2020.</a:t>
            </a:r>
            <a:r>
              <a:t> arXiv. </a:t>
            </a:r>
            <a:r>
              <a:rPr i="1"/>
              <a:t>Inferring learning rules from animal decision-making </a:t>
            </a:r>
            <a:br>
              <a:rPr i="1"/>
            </a:br>
            <a:r>
              <a:rPr u="sng">
                <a:hlinkClick r:id="rId5" invalidUrl="" action="" tgtFrame="" tooltip="" history="1" highlightClick="0" endSnd="0"/>
              </a:rPr>
              <a:t>https://papers.nips.cc/paper_files/paper/2020/hash/234b941e88b755b7a72a1c1dd5022f30-Abstract.html</a:t>
            </a:r>
            <a:r>
              <a:rPr i="1"/>
              <a:t> </a:t>
            </a:r>
          </a:p>
        </p:txBody>
      </p:sp>
      <p:sp>
        <p:nvSpPr>
          <p:cNvPr id="71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7" name="Some properties of the policy gradient method"/>
          <p:cNvSpPr txBox="1"/>
          <p:nvPr>
            <p:ph type="title"/>
          </p:nvPr>
        </p:nvSpPr>
        <p:spPr>
          <a:prstGeom prst="rect">
            <a:avLst/>
          </a:prstGeom>
        </p:spPr>
        <p:txBody>
          <a:bodyPr/>
          <a:lstStyle>
            <a:lvl1pPr defTabSz="2316421">
              <a:defRPr spc="-161" sz="8075"/>
            </a:lvl1pPr>
          </a:lstStyle>
          <a:p>
            <a:pPr/>
            <a:r>
              <a:t>Some properties of the policy gradient method</a:t>
            </a:r>
          </a:p>
        </p:txBody>
      </p:sp>
      <p:sp>
        <p:nvSpPr>
          <p:cNvPr id="718" name="Slide Subtitle"/>
          <p:cNvSpPr txBox="1"/>
          <p:nvPr>
            <p:ph type="body" idx="21"/>
          </p:nvPr>
        </p:nvSpPr>
        <p:spPr>
          <a:prstGeom prst="rect">
            <a:avLst/>
          </a:prstGeom>
        </p:spPr>
        <p:txBody>
          <a:bodyPr/>
          <a:lstStyle/>
          <a:p>
            <a:pPr/>
          </a:p>
        </p:txBody>
      </p:sp>
      <p:sp>
        <p:nvSpPr>
          <p:cNvPr id="719" name="Allows for stochastic policies —&gt; balances exploration and exploitation…"/>
          <p:cNvSpPr txBox="1"/>
          <p:nvPr>
            <p:ph type="body" idx="1"/>
          </p:nvPr>
        </p:nvSpPr>
        <p:spPr>
          <a:prstGeom prst="rect">
            <a:avLst/>
          </a:prstGeom>
        </p:spPr>
        <p:txBody>
          <a:bodyPr/>
          <a:lstStyle/>
          <a:p>
            <a:pPr/>
            <a:r>
              <a:t>Allows for stochastic policies —&gt; balances exploration and exploitation</a:t>
            </a:r>
          </a:p>
          <a:p>
            <a:pPr/>
            <a:r>
              <a:t>Updates generalize to similar solutions (continuous space)</a:t>
            </a:r>
          </a:p>
          <a:p>
            <a:pPr/>
            <a:r>
              <a:t>On-policy only</a:t>
            </a:r>
          </a:p>
          <a:p>
            <a:pPr/>
            <a:r>
              <a:t>Model-free (no state transition probabilities)</a:t>
            </a:r>
          </a:p>
        </p:txBody>
      </p:sp>
      <p:sp>
        <p:nvSpPr>
          <p:cNvPr id="72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2" name="Related topics"/>
          <p:cNvSpPr txBox="1"/>
          <p:nvPr>
            <p:ph type="title"/>
          </p:nvPr>
        </p:nvSpPr>
        <p:spPr>
          <a:prstGeom prst="rect">
            <a:avLst/>
          </a:prstGeom>
        </p:spPr>
        <p:txBody>
          <a:bodyPr/>
          <a:lstStyle/>
          <a:p>
            <a:pPr/>
            <a:r>
              <a:t>Related topics</a:t>
            </a:r>
          </a:p>
        </p:txBody>
      </p:sp>
      <p:sp>
        <p:nvSpPr>
          <p:cNvPr id="723" name="Slide Subtitle"/>
          <p:cNvSpPr txBox="1"/>
          <p:nvPr>
            <p:ph type="body" idx="21"/>
          </p:nvPr>
        </p:nvSpPr>
        <p:spPr>
          <a:prstGeom prst="rect">
            <a:avLst/>
          </a:prstGeom>
        </p:spPr>
        <p:txBody>
          <a:bodyPr/>
          <a:lstStyle/>
          <a:p>
            <a:pPr/>
          </a:p>
        </p:txBody>
      </p:sp>
      <p:sp>
        <p:nvSpPr>
          <p:cNvPr id="724" name="Actor-critic methods —&gt; policy gradient and value-based methods…"/>
          <p:cNvSpPr txBox="1"/>
          <p:nvPr>
            <p:ph type="body" idx="1"/>
          </p:nvPr>
        </p:nvSpPr>
        <p:spPr>
          <a:prstGeom prst="rect">
            <a:avLst/>
          </a:prstGeom>
        </p:spPr>
        <p:txBody>
          <a:bodyPr/>
          <a:lstStyle/>
          <a:p>
            <a:pPr/>
            <a:r>
              <a:t>Actor-critic methods —&gt; policy gradient and value-based methods</a:t>
            </a:r>
          </a:p>
          <a:p>
            <a:pPr/>
            <a:r>
              <a:t>Deep Deterministic Policy Gradient (DDPG) </a:t>
            </a:r>
          </a:p>
          <a:p>
            <a:pPr/>
            <a:r>
              <a:t>Proximal Policy Optimization</a:t>
            </a:r>
          </a:p>
        </p:txBody>
      </p:sp>
      <p:sp>
        <p:nvSpPr>
          <p:cNvPr id="725"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